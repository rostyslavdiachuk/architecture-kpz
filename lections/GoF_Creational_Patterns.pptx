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" id="{CC732F19-0953-D064-6A72-241C6AF0FB9B}">
          <p14:sldIdLst>
            <p14:sldId id="256"/>
            <p14:sldId id="257"/>
            <p14:sldId id="258"/>
            <p14:sldId id="259"/>
            <p14:sldId id="260"/>
          </p14:sldIdLst>
        </p14:section>
        <p14:section name="Factory Method" id="{1A26E3C6-7265-1EE0-5734-2996848B77A7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Abstract Factory" id="{00423EA0-AE1A-0F68-A0B2-F69C6B3DA7D2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Builder" id="{F96F0CCD-E209-B6D2-356A-5D685DC76539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Підсумки" id="{0DE7D7A4-D376-C99C-C4DA-C3F7B9F48445}">
          <p14:sldIdLst>
            <p14:sldId id="287"/>
            <p14:sldId id="288"/>
            <p14:sldId id="289"/>
            <p14:sldId id="290"/>
            <p14:sldId id="291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35" autoAdjust="0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4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3802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хв] Вітаємось. Сьогодні говоримо про три породжувальні (creational) патерни з каталогу «Банди чотирьох» (Gang of Four, GoF): Factory Method, Abstract Factory і Builder.
Уся лекція побудована на одному навчальному проєкті — архітектурному репозиторії курсу (architecture-kpz), пакет gof.creational. Наскрізний сюжет — вигадана гра Dungeon Raid: рівні з монстрами, тематичні підземелля та редактор персонажа.
Формат кожного блоку однаковий: спочатку дивимось на «поганий» код (гілка bad-practice-principles), бачимо, до якої помилки він призводить у демо, а потім рефакторимо його в патерн (гілка best-practice-principles).
Попросіть студентів відкрити проєкт: після лекції вони виконуватимуть рефакторинг самостійно.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хв] Коротко озвучуємо план і таймінг: 5 хвилин вступу, по 15 хвилин на кожен патерн, 10 хвилин на порівняння, підсумки й запитання.
Підкресліть: ці три патерни не ізольовані — Factory Method і Abstract Factory часто плутають, тому в кінці ми їх окремо порівняємо. Builder розв'язує зовсім іншу проблему — складність самого об'єкта, а не вибір класу.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хв] Почніть з провокаційного питання: «Що поганого в new?» — нічого, поки програма маленька.
Проблеми виникають, коли:
1) клієнтський код жорстко прив'язаний до конкретного класу — щоб додати нову варіацію, доводиться його редагувати (порушення Open/Closed Principle);
2) логіка «що саме створити» розкидана копіями по коду — оновили в одному місці, забули в іншому;
3) об'єкт складний: багато параметрів, обов'язкові й необов'язкові частини, правила коректності — і зібрати його «будь-як» дуже легко.
Породжувальні патерни відповідають на три питання: ХТО створює об'єкт, ЯКИЙ саме клас і ЯК зібрати його коректно. Саме ці три питання й закривають три сьогоднішні патерни.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хв] Каталог GoF (1994) містить 23 патерни у трьох групах: породжувальні, структурні та поведінкові. Породжувальних — п'ять.
Сьогодні беремо три: Factory Method, Abstract Factory та Builder. Prototype і Singleton розглянемо окремо — у проєкті є для них свої приклади (пакети prototype і singleton), а також Object Pool, який не входить до каталогу GoF, але теж є породжувальним.
Зверніть увагу на ключові слова на картках — це «одне речення», яке варто запам'ятати про кожен патерн.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хв] Усі три приклади — частини однієї вигаданої гри. Це зручно: предметна область інтуїтивна, а помилки візуально очевидні (гоблін у болоті, крижаний меч у лаві, маг без мани).
Структура в репозиторії: src/main/java/gof/creational/&lt;патерн&gt;/. У кожній папці є README.md зі сценарієм, описом «запаху», завданням і підказками, а також Demo-клас із методом main, який показує проблему або її вирішення.
Дві гілки:
• bad-practice-principles — код із проблемою, демо виводить [FAIL];
• best-practice-principles — після рефакторингу, демо виводить [OK].
Різницю зручно показувати командою git diff між гілками.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[~0.5 хв] Переходимо до першого патерну — Factory Method (фабричний метод).
Одне речення, яке треба запам'ятати: базовий клас визначає алгоритм, а підклас відповідає лише на питання «який об'єкт створити?».
Приклад — пакет gof.creational.factorymethod, демо FactoryMethodDemo.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[~1.5 хв] Сценарій. У грі є рівні в різних біомах: Ice (крижана печера), Fire (вулкан) і щойно доданий Swamp (болото).
Кожен рівень уміє дві речі:
• spawnWave(n) — випустити хвилю з n ворогів;
• spawnReinforcement() — пізніше підкинути одного ворога як підкріплення.
Бізнес-правило просте: кожен ворог має належати біому свого рівня. Крижаний голем — лише у крижаній печері, болотний троль — лише в болоті.
Зверніть увагу: Swamp — НОВИЙ біом. Саме під час його додавання і стається помилка, яку ми побачимо далі. Це типова ситуація: код працював, доки не з'явилась нова варіація.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[~2.5 хв] Ось як виглядав DungeonLevel до рефакторингу (гілка bad-practice-principles).
Біом зберігається як String, а клас ворога обирається через switch. Ключова проблема — switch продубльовано у ДВОХ методах.
Коли додавали Swamp, розробник оновив spawnWave (зелений рядок) — але spawnReinforcement був скопійований ще тоді, коли існували лише Ice і Fire, і про нього забули (червоний блок).
Чому ніхто не помітив?
• switch по рядку з гілкою default компілюється за будь-яких умов — компілятор не може підказати, що якийсь випадок пропущено;
• default -&gt; new Goblin() «ховає» помилку: замість падіння ми мовчки отримуємо неправильного ворога.
Запитайте аудиторію: «Скільки місць треба знайти вручну, щоб додати четвертий біом?» Відповідь: всі switch-і, і ніхто не гарантує, що ви знайшли їх усі.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[~1.5 хв] Запускаємо FactoryMethodDemo на гілці bad-practice-principles.
Ice і Fire працюють коректно. У Swamp-рівні хвиля правильна — три болотні тролі, бо spawnWave знає про Swamp. А підкріплення — Goblin, печерний монстр у болоті. Демо позначає це як [FAIL].
Головна думка: це не «опечатка» — це структурна проблема. Знання «який ворог належить біому» продубльоване, і копії розійшлися. Поки воно продубльоване, така помилка повторюватиметься з кожним новим біомом.
Можна запитати: «Як би ви це виправили?» Найчастіша відповідь — «додати case у другий switch». Це виправляє симптом, але не причину. Нам потрібно, щоб це знання жило в ОДНОМУ місці і щоб компілятор нагадував про нього.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[~2.5 хв] Визначення GoF: «Визначає інтерфейс для створення об'єкта, але дозволяє підкласам вирішувати, екземпляр якого класу створювати. Фабричний метод дозволяє класу делегувати створення підкласам».
Ролі та їх відповідність у нашому коді:
• Creator — абстрактний DungeonLevel. Він володіє алгоритмом: spawnWave, spawnReinforcement;
• Factory method — protected abstract Enemy createEnemy();
• ConcreteCreator — IceCaveLevel, FireVolcanoLevel, SwampLevel;
• Product — інтерфейс Enemy; ConcreteProduct — IceGolem, FireImp, SwampTroll.
Пройдіться по діаграмі: стрілки з трикутником — спадкування; пунктир — «створює». DungeonLevel ніколи не викликає new для конкретного ворога — він лише кличе createEnemy().
Зверніть увагу, що це по суті Template Method, застосований до створення об'єкта: базовий клас задає скелет, підклас заповнює один крок.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хв] Код після рефакторингу (гілка best-practice-principles).
DungeonLevel став абстрактним. Замість поля biome — абстрактний метод biome(), а замість switch — абстрактний фабричний метод createEnemy() (виділено зеленим).
Обидва методи — spawnWave і spawnReinforcement — тепер викликають ОДИН і той самий createEnemy(). Отже, вони фізично не можуть «розійтися»: немає двох копій знання.
Чому createEnemy() — protected? Бо це деталь реалізації рівня: зовнішній клієнт має просити хвилю чи підкріплення, а не створювати ворогів напряму.
Чому abstract, а не метод із реалізацією за замовчуванням? Щоб компілятор змусив кожен новий підклас його реалізувати — саме цього не вистачало у версії зі switch.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хв] Ліворуч — повний код SwampLevel. Підклас відповідає лише на одне питання: який ворог? Біом — Swamp, ворог — SwampTroll. Усе.
Праворуч — клієнт (FactoryMethodDemo). Він працює зі списком DungeonLevel і не знає, які там конкретні рівні. Додали DesertLevel — клієнт не змінюється.
Що зникло після рефакторингу:
• обидва switch-і;
• рядкове поле biome у конструкторі;
• клас Goblin — «запасний» ворог, який ховав помилку.
Це принцип Open/Closed у дії: система відкрита для розширення (новий підклас) і закрита для модифікації (DungeonLevel не чіпаємо).
Тепер демо показує [OK] для всіх трьох біомів.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хв] Переваги:
• Open/Closed: новий варіант — новий підклас, базовий клас не змінюється;
• компілятор контролює повноту — абстрактний метод не можна забути;
• одне місце створення — немає копій, які розходяться;
• клієнт працює з абстракціями (DungeonLevel, Enemy), а не з конкретними класами.
Ціна:
• потрібна ієрархія підкласів; якщо варіацій багато й вони відрізняються лише одним рядком — класів стає багато;
• механізм — спадкування, тому вибір продукту фіксується разом із вибором підкласу (не можна «на льоту» поміняти ворогів для вже створеного рівня).
Важливе застереження: не плутайте з «static factory method» з Effective Java (наприклад, List.of(), Integer.valueOf()). Це просто статичний метод замість конструктора — він НЕ є патерном GoF Factory Method, бо там немає перевизначення в підкласах.
Приклад із JDK: Collection.iterator() — кожна колекція (ArrayList, HashSet…) повертає свій Iterator; алгоритми на кшталт AbstractCollection.contains() працюють через нього.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[~0.5 хв] Другий патерн — Abstract Factory (абстрактна фабрика).
Одне речення: це об'єкт, який створює ціле СІМЕЙСТВО пов'язаних продуктів, і гарантує, що вони сумісні між собою.
Приклад — пакет gof.creational.abstractfactory, демо AbstractFactoryDemo.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[~1.5 хв] Кожне підземелля в Dungeon Raid складається з трьох частин: стіни, монстр і скриня зі скарбом.
У грі дві теми: Ice і Fire. Частини однієї теми утворюють сімейство: крижані стіни + крижаний голем + Frost Sword; або лавові стіни + вогняний імп + Flame Bow.
Ключове відмінність від попереднього прикладу: там ми обирали ОДИН об'єкт (ворога). Тут потрібно створити КІЛЬКА різних об'єктів, і вони мають бути узгоджені між собою. Змішування тем — це баг, навіть якщо кожна частина окремо коректна.
Класична аналогія з GoF — UI-тулкіт: кнопки, скролбари та вікна мають бути в одному стилі (Windows або macOS), не можна змішувати.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хв] До рефакторингу був окремий клас-генератор на кожну тему. IceDungeonGenerator обирає частини вручну через new.
Коли з'явилась тема Fire, IceDungeonGenerator просто скопіювали і замінили класи. Але лише ДВА з трьох: LavaWall і FireImp замінили, а FrostChest залишився (червоний рядок).
Чому це сталося?
• Ніщо в коді не каже, що IceWall, IceGolem і FrostChest — одне сімейство. Це знання існує лише в голові розробника;
• кожна частина обирається окремим new, тож можна змінити дві і пропустити третю;
• компілятор не допоможе — типи збігаються: FrostChest — це цілком валідний Treasure.
Плюс дублювання: обидва генератори містять однаковий алгоритм складання Dungeon.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хв] Демо на bad-гілці: Ice-підземелля коректне, а у Fire-підземеллі лавові стіни, вогняний імп — і скриня з Frost Sword. Крижаний меч лежить у лаві.
Метод Dungeon.themes() збирає теми всіх частин; якщо їх більше однієї — [FAIL].
Знову підкресліть: окремо кожна частина правильна. Помилка — в їх КОМБІНАЦІЇ. Нам потрібна конструкція, яка зробить змішування неможливим за побудовою, а не «за уважністю розробника».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 хв] Визначення GoF: «Надає інтерфейс для створення сімейств пов'язаних або залежних об'єктів без зазначення їхніх конкретних класів».
Найкраще пояснювати патерн як матрицю:
• стовпчики — типи продуктів (Wall, Monster, Treasure). Кожному стовпчику відповідає один метод фабрики: createWall(), createMonster(), createTreasure();
• рядки — сімейства (теми). Кожному рядку відповідає одна конкретна фабрика: IceThemeFactory, FireThemeFactory.
Клієнт (DungeonGenerator) тримає посилання лише на інтерфейс DungeonThemeFactory. Обравши фабрику (рядок), він може отримати продукти ТІЛЬКИ з цього рядка. Змішати рядки неможливо.
Ролі GoF: AbstractFactory = DungeonThemeFactory; ConcreteFactory = IceThemeFactory/FireThemeFactory; AbstractProduct = Wall/Monster/Treasure; ConcreteProduct = IceWall, LavaWall, …; Client = DungeonGenerator.
Корисно поставити питання: «Що станеться, якщо додати новий рядок (тему)? А новий стовпчик (наприклад, Trap)?» — відповідь буде на слайді про ціну.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хв] Крок 1 рефакторингу — інтерфейс DungeonThemeFactory з трьома методами: по одному на кожен тип продукту. Тепер у коді ЯВНО записано: «ці три речі утворюють сімейство».
Крок 2 — дві реалізації: IceThemeFactory і FireThemeFactory. Кожна повертає продукти лише своєї теми.
Зверніть увагу на назву: «тема» FireThemeFactory описує сімейство в одному місці, на трьох рядках, які легко переглянути разом. Помилку з FrostChest тут було б видно одразу, бо всі продукти фабрики стоять поруч.
Примітка: методи createWall/createMonster/createTreasure у кожній фабриці по суті є фабричними методами — абстрактна фабрика часто реалізується через Factory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хв] Крок 3 — замість двох генераторів залишається ОДИН DungeonGenerator. Він отримує фабрику через конструктор (це dependency injection) і викликає лише factory.createXxx().
Головне: у DungeonGenerator немає жодного new для конкретної частини. Він фізично не може змішати теми — бо всі частини приходять від одного об'єкта-фабрики.
Вибір теми відбувається в одному місці — там, де ми створюємо генератор (у демо — в main). У реальній грі це може бути конфігурація, вибір рівня гравцем тощо.
Нова тема, наприклад Swamp, — це один новий клас SwampThemeFactory. DungeonGenerator не змінюється.
Демо після рефакторингу: обидва підземелля [OK].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хв] Переваги:
• сумісність продуктів гарантована конструкцією — клієнт не може змішати сімейства;
• нове сімейство (тема) — один новий клас-фабрика; клієнт не змінюється;
• клієнт залежить лише від інтерфейсів (Dependency Inversion);
• фабрику легко підмінити: у тестах — фейкова фабрика, у продакшні — обрана конфігурацією.
Ціна — асиметрія розширення (повертаємось до питання з матриці):
• новий РЯДОК (тема) — легко;
• новий СТОВПЧИК (тип продукту, наприклад Trap) — важко: треба додати метод createTrap() в інтерфейс і реалізувати його в КОЖНІЙ фабриці. Тому інтерфейс фабрики має бути стабільним.
• додаткові інтерфейси і класи — для двох продуктів патерн може бути надмірним.
Приклади в JDK: javax.xml.parsers.DocumentBuilderFactory, java.sql.Connection (createStatement, prepareStatement… — сімейство об'єктів одного драйвера), Swing LookAndFeel.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[~2.5 хв] Найчастіше питання на екзамені — чим відрізняються ці два патерни. Пройдіться по таблиці.
Коротка формула з README проєкту: Factory Method — це ОДИН метод, який перевизначає підклас. Abstract Factory — це ОБ'ЄКТ із кількома методами створення, який передають клієнту.
• Механізм: FM — спадкування (клієнт сам і є creator, він extends DungeonLevel). AF — композиція (клієнт отримує фабрику ззовні й делегує їй).
• Скільки продуктів: FM — один (Enemy). AF — сімейство (Wall + Monster + Treasure).
• Розширення: FM — новий підклас Creator-а. AF — нова реалізація фабрики.
• Коли обирати: FM — коли є базовий алгоритм і варіюється один крок створення. AF — коли треба кілька об'єктів, які мають бути сумісні.
Зв'язок між ними: методи абстрактної фабрики часто реалізують як фабричні методи. А ще можна мислити так: якщо у вашому Factory Method з'являється другий, третій фабричний метод, і вони мають бути узгоджені — час винести їх в окремий об'єкт-фабрику.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[~0.5 хв] Третій патерн — Builder (будівельник).
Важливо налаштувати аудиторію: це зовсім інша проблема. Factory Method та Abstract Factory відповідають на питання «ЯКИЙ клас створити». Builder відповідає на питання «ЯК коректно зібрати один складний об'єкт».
Приклад — пакет gof.creational.builder, демо BuilderDemo.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[~1.5 хв] Редактор персонажа створює героїв. У героя є:
• обов'язкові частини — ім'я та клас (WARRIOR, MAGE, ROGUE);
• шість необов'язкових — HP, мана, сила, зброя, броня, улюбленець. Кожна з них має розумне значення за замовчуванням: 100 HP, 0 мани, сила 10, зброя «Fists», броня «Cloth», без улюбленця.
Плюс бізнес-правила коректності: HP має бути більше нуля, а маг без мани — це не маг.
Тобто проблема тут не у виборі класу (він один — Hero), а в тому, що об'єкт має багато полів, частина з яких необов'язкова, і є правила, які треба перевірити ДО того, як об'єкт почне існувати.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[~2.5 хв] До рефакторингу Hero мав один публічний конструктор на вісім параметрів.
Подивіться на виклик і спробуйте без підглядання сказати, яке з чисел — HP, а яке — мана. Неможливо. Читач мусить відкрити Hero.java і рахувати позиції.
Проблеми:
• три int поспіль (hp, mana, strength) і три String поспіль (weapon, armor, pet) — якщо переставити два однотипні аргументи, код скомпілюється;
• необов'язкові частини передаються як null — і незрозуміло, що саме означає цей null;
• немає кроку, на якому можна перевірити героя, перш ніж він почне існувати.
Цю проблему ще називають «телескопічний конструктор» (telescoping constructor) — коли з'являються перевантаження на 2, 3, 4… параметри. Альтернатива «JavaBeans» (порожній конструктор + сеттери) теж погана: об'єкт деякий час існує в неповному стані й не може бути immutable.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[~1.5 хв] Три випадки з BuilderDemo на bad-гілці:
1) Aria мала отримати 80 HP і 150 мани. Отримала навпаки: 150 HP і 80 мани. Два int переставлені — компілятор не помітив, бо типи збігаються. Це [FAIL].
2) Borin — виклик технічно коректний, але нечитабельний. Що таке 0? Що таке 18? Що означає null у кінці? Це [WARN] — не баг, але підґрунтя для майбутнього бага.
3) Nox — маг із 0 мани. Конструктор просто присвоює поля, тому некоректний герой мовчки створюється. Помилка проявиться десь пізніше, далеко від місця створення.
Спитайте: «Що з цього може виправити компілятор?» — нічого. Потрібна інша форма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хв] Ось як виглядає створення героїв після рефакторингу.
• Обов'язкові параметри (ім'я і клас) передаються одразу в Hero.builder(...) — їх неможливо забути.
• Кожна необов'язкова частина — окремий іменований метод: hp(80), mana(150). Переставити HP і ману тепер неможливо — назва методу каже, що є що.
• Те, чого в героя немає (у Borin — мана та улюбленець), просто не згадується. Жодних null. Береться значення за замовчуванням.
• Наприкінці build() створює об'єкт.
Код читається майже як опис зі сценарію: «Borin, воїн, 200 HP, сила 18, бойова сокира, латні обладунки».
Це так званий fluent interface: кожен метод повертає this, тому виклики зчіплюються в ланцюжок.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 хв] Подивимось усередину. Чотири ключові рішення:
1) Конструктор Hero — private і приймає Builder. Отже, будівельник — єдиний спосіб створити героя. Обійти перевірки неможливо.
2) Builder — статичний вкладений клас. Обов'язкові поля (name, heroClass) — final і задаються в конструкторі будівельника. Необов'язкові мають значення за замовчуванням прямо в оголошенні полів.
3) Кожен «сетер» будівельника повертає this — це дає ланцюжок викликів.
4) build() — єдине місце валідації. Або ми отримуємо коректного героя, або IllegalStateException. Проміжного стану немає.
Додатковий бонус: Hero став immutable — усі поля final, сеттерів немає. Змінюється лише будівельник, а не продукт. Це важливо для потокобезпечності та передбачуваності.
Код скорочено для слайда: у повній версії є також strength, weapon, armor, pet — вони влаштовані однаково.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[~1.5 хв] Повертаємось до Nox — мага з 0 мани.
Тепер виклик проходить по ланцюжку кроків, а build() перевіряє правила. Маг без мани — порушення, тому build() кидає IllegalStateException з поясненням «Nox: a mage needs mana &gt; 0».
Головна думка: помилка виникає В МІСЦІ СТВОРЕННЯ, з точним описом, а не десь у бойовій системі через годину гри, коли маг спробує застосувати закляття.
Принцип: «fail fast». Об'єкт або повністю коректний, або його не існує.
Питання до аудиторії: «А чому б не перевіряти в кожному сетері?» — бо деякі правила стосуються КОМБІНАЦІЇ полів (клас MAGE + мана), і їх можна перевірити лише тоді, коли всі значення вже відомі. Тобто — у build().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хв] Чесне застереження: те, що ми зробили, — це «fluent builder» Джошуа Блоха (Effective Java, Item 2: «Consider a builder when faced with many constructor parameters»). Саме таку форму найчастіше мають на увазі в Java-світі.
Класичний Builder у книзі GoF має ширшу мету: «Відокремити конструювання складного об'єкта від його представлення, щоб той самий процес конструювання міг створювати різні представлення». Ролі:
• Director — знає ПОРЯДОК кроків (наприклад, «створи стандартного мага»);
• Builder — інтерфейс кроків (setHp, setMana, addWeapon…);
• ConcreteBuilder — конкретні реалізації, які дають РІЗНІ продукти: один будує об'єкт Hero, інший — JSON для файлу збереження, третій — 3D-модель для рендера;
• Product — результат.
Спільне в обох варіантах: покрокова збірка та відокремлення процесу збирання від самого продукту. Відмінність: GoF фокусується на різних представленнях, fluent builder — на зручному та безпечному API для одного класу.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[~1.5 хв] Переваги:
• читабельність — кожне значення має ім'я;
• значення за замовчуванням без null і без купи перевантажених конструкторів;
• незмінний (immutable) продукт;
• валідація в одному місці — некоректний об'єкт не існує.
Ціна:
• дублювання: кожне поле оголошене двічі — в Hero і в Builder;
• більше коду. На практиці його часто генерують: Lombok @Builder, AutoValue, IDE-генератори;
• для класу з 2–3 полями Builder надмірний — достатньо конструктора або record.
Ви вже користуєтесь цим патерном щодня: StringBuilder, HttpRequest.newBuilder() з java.net.http, Stream.builder(), Locale.Builder, а також ProcessBuilder.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[~0.5 хв] Переходимо до підсумків: порівняємо патерни, обговоримо, як обирати, і як виконувати практичне завдання.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хв] Узагальнюємо в одну картинку. Для кожного патерну: питання, на яке він відповідає, «запах», за яким його впізнати в коді, і рішення.
Factory Method: питання «який клас створити?». Запах — switch/if за типом у місці створення, особливо продубльований. Рішення — абстрактний метод, який перевизначає підклас.
Abstract Factory: питання «які об'єкти мають бути разом?». Запах — copy-paste набору new для кожної варіації. Рішення — об'єкт-фабрика на сімейство.
Builder: питання «як зібрати складний об'єкт?». Запах — довгий конструктор, null-аргументи, некоректні об'єкти. Рішення — покрокова збірка з валідацією в build().
Попросіть студентів запам'ятати саме «запахи» — у реальному коді патерн ніхто не підписує, а запахи видно одразу.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хв] Практичний алгоритм вибору. Йдемо зверху вниз:
1) Об'єкт має багато параметрів, частина необов'язкова, є правила коректності? → Builder.
2) Треба створити кілька різних об'єктів, які обов'язково мають пасувати одне одному? → Abstract Factory.
3) Є базовий клас зі спільним алгоритмом, і підкласи відрізняються тим, який об'єкт створюють? → Factory Method.
4) Жодне з цього? → звичайний new. Це НЕ поразка.
Найважливіша порада: патерн — це ліки від конкретної проблеми. Не додавайте фабрику «про запас» для класу, у якого одна реалізація і немає планів на інші. Зайва абстракція — теж технічний борг (YAGNI).
Також патерни поєднуються: абстрактна фабрика може повертати продукти, зібрані будівельником, а її методи — бути фабричними методами.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хв] Пояснюємо практичне завдання.
1) Переключитись на гілку bad-practice-principles і запустити три демо — переконатись, що вони показують [FAIL].
2) Виконати рефакторинг за README у кожній папці (розділ «Your task»). README містить підказки, але не готовий код.
3) Порівняти своє рішення з еталонним через git diff між гілками.
Додаткові завдання для закріплення — праворуч:
• FM: додати DesertLevel зі своїм ворогом — перевірити, що DungeonLevel не змінився.
• AF: додати тему Swamp — потрібна нова фабрика й три нові продукти; генератор не змінюється. Бонусне питання: що доведеться змінити, якщо додати Trap?
• Builder: додати правило «розбійник (ROGUE) не може воювати кулаками» — де має бути ця перевірка?
Демо запускаються як звичайні main-класи (наприклад, через 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 хв] Можна використати як міні-опитування в кінці пари або як вхідний контроль на наступному занятті.
Орієнтовні відповіді:
1) Тому що компілятор не може перевірити повноту switch із default, і продубльована логіка розходиться. Factory Method зводить створення в один абстрактний метод.
2) FM — спадкування, один продукт; AF — композиція, сімейство продуктів.
3) Додати метод createTrap() до DungeonThemeFactory і реалізувати його в усіх фабриках — новий тип продукту дорогий.
4) Бо правило стосується комбінації полів, а повний набір значень відомий лише в build(); крім того, це єдине місце, через яке проходить створення.
5) Приватний конструктор: інакше будівельник (і його перевірки) можна обійти.
6) Ні: для 2–3 полів достатньо конструктора або record; патерн має окупатися.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[решта часу] Відповідаємо на запитання.
Нагадайте про практичне завдання: рефакторинг трьох прикладів на гілці bad-practice-principles і порівняння з best-practice-principles.
Анонс наступної теми: решта породжувальних патернів — Prototype і Singleton (у проєкті є приклади з клонуванням ворогів і налаштуваннями гри), а також Object Pool.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3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67665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94760"/>
            <a:ext cx="67665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743200"/>
            <a:ext cx="65836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840480"/>
            <a:ext cx="65836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КПЗ · Породжувальні патерни GoF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КПЗ · Породжувальні патерни GoF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tx1"/>
                </a:solidFill>
              </a:rPr>
              <a:t>Породжувальні </a:t>
            </a:r>
            <a:r>
              <a:rPr lang="en-US" sz="4400" b="1" dirty="0" err="1">
                <a:solidFill>
                  <a:schemeClr val="tx1"/>
                </a:solidFill>
              </a:rPr>
              <a:t>патерни</a:t>
            </a:r>
            <a:r>
              <a:rPr lang="en-US" sz="4400" b="1" dirty="0">
                <a:solidFill>
                  <a:schemeClr val="tx1"/>
                </a:solidFill>
              </a:rPr>
              <a:t> </a:t>
            </a:r>
            <a:r>
              <a:rPr lang="en-US" sz="4400" b="1" dirty="0" err="1">
                <a:solidFill>
                  <a:schemeClr val="tx1"/>
                </a:solidFill>
              </a:rPr>
              <a:t>GoF</a:t>
            </a:r>
            <a:r>
              <a:rPr lang="en-US" sz="4400" b="1" dirty="0">
                <a:solidFill>
                  <a:schemeClr val="tx1"/>
                </a:solidFill>
              </a:rPr>
              <a:t>. </a:t>
            </a:r>
            <a:r>
              <a:rPr lang="uk-UA" dirty="0"/>
              <a:t>Частина 2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9476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Factory Method · Abstract Factory · Builder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на прикладі гри Dungeon Raid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394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Конструювання програмного забезпечення · лекція</a:t>
            </a:r>
            <a:endParaRPr lang="en-US" sz="1400" dirty="0"/>
          </a:p>
        </p:txBody>
      </p:sp>
      <p:sp>
        <p:nvSpPr>
          <p:cNvPr id="5" name="GiFactory circle"/>
          <p:cNvSpPr/>
          <p:nvPr/>
        </p:nvSpPr>
        <p:spPr>
          <a:xfrm>
            <a:off x="8138160" y="914400"/>
            <a:ext cx="1600200" cy="1600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Factory Metho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234440"/>
            <a:ext cx="960120" cy="9601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0" y="2560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Factory Method</a:t>
            </a:r>
            <a:endParaRPr lang="en-US" sz="1400" dirty="0"/>
          </a:p>
        </p:txBody>
      </p:sp>
      <p:sp>
        <p:nvSpPr>
          <p:cNvPr id="8" name="GiCastle circle"/>
          <p:cNvSpPr/>
          <p:nvPr/>
        </p:nvSpPr>
        <p:spPr>
          <a:xfrm>
            <a:off x="9692640" y="2423160"/>
            <a:ext cx="1600200" cy="1600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Abstract Factor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0" y="2743200"/>
            <a:ext cx="960120" cy="9601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326880" y="4069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Abstract Factory</a:t>
            </a:r>
            <a:endParaRPr lang="en-US" sz="1400" dirty="0"/>
          </a:p>
        </p:txBody>
      </p:sp>
      <p:sp>
        <p:nvSpPr>
          <p:cNvPr id="11" name="GiAnvil circle"/>
          <p:cNvSpPr/>
          <p:nvPr/>
        </p:nvSpPr>
        <p:spPr>
          <a:xfrm>
            <a:off x="8138160" y="3931920"/>
            <a:ext cx="1600200" cy="1600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2" descr="Build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4251960"/>
            <a:ext cx="960120" cy="9601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772400" y="55778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Builder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План лекції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1463040" y="2788920"/>
            <a:ext cx="923544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60120" y="2286000"/>
            <a:ext cx="1005840" cy="1005840"/>
          </a:xfrm>
          <a:prstGeom prst="ellipse">
            <a:avLst/>
          </a:prstGeom>
          <a:solidFill>
            <a:schemeClr val="tx2"/>
          </a:solidFill>
          <a:ln w="508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60120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3520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Навіщо ці патерни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268980" y="2286000"/>
            <a:ext cx="1005840" cy="1005840"/>
          </a:xfrm>
          <a:prstGeom prst="ellipse">
            <a:avLst/>
          </a:prstGeom>
          <a:solidFill>
            <a:schemeClr val="accent3"/>
          </a:solidFill>
          <a:ln w="508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68980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2674620" y="3520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Factory Method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577840" y="2286000"/>
            <a:ext cx="1005840" cy="100584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77840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4983480" y="3520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Abstract Factory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886700" y="2286000"/>
            <a:ext cx="1005840" cy="1005840"/>
          </a:xfrm>
          <a:prstGeom prst="ellipse">
            <a:avLst/>
          </a:prstGeom>
          <a:solidFill>
            <a:schemeClr val="accent2"/>
          </a:solidFill>
          <a:ln w="5080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86700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7292340" y="3520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Builder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0195560" y="2286000"/>
            <a:ext cx="1005840" cy="1005840"/>
          </a:xfrm>
          <a:prstGeom prst="ellipse">
            <a:avLst/>
          </a:prstGeom>
          <a:solidFill>
            <a:schemeClr val="tx2"/>
          </a:solidFill>
          <a:ln w="508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195560" y="22860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9601200" y="3520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Порівняння та підсумки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pic>
        <p:nvPicPr>
          <p:cNvPr id="26" name="Image 0" descr="сувій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212080"/>
            <a:ext cx="594360" cy="59436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600200" y="5074920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Кожен патерн: </a:t>
            </a:r>
            <a:r>
              <a:rPr lang="en-US" sz="1700" dirty="0">
                <a:solidFill>
                  <a:schemeClr val="tx1"/>
                </a:solidFill>
              </a:rPr>
              <a:t>сценарій → «запах» у коді → наслідок у демо → рефакторинг → переваги та ціна</a:t>
            </a:r>
            <a:endParaRPr lang="en-US" sz="17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Чому оператор new — це проблема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Client.java</a:t>
            </a:r>
            <a:endParaRPr lang="en-US" sz="1200" dirty="0"/>
          </a:p>
        </p:txBody>
      </p:sp>
      <p:sp>
        <p:nvSpPr>
          <p:cNvPr id="5" name="code panel"/>
          <p:cNvSpPr/>
          <p:nvPr/>
        </p:nvSpPr>
        <p:spPr>
          <a:xfrm>
            <a:off x="548640" y="1728216"/>
            <a:ext cx="512064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6" name="code"/>
          <p:cNvSpPr txBox="1"/>
          <p:nvPr/>
        </p:nvSpPr>
        <p:spPr>
          <a:xfrm>
            <a:off x="731520" y="1911096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i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клієнт знає конкретний клас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Enemy enemy = </a:t>
            </a: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SwampTroll();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i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 тут — уже з вибором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Enemy enemy = </a:t>
            </a: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(biome) {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"Ice"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-&gt; </a:t>
            </a: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IceGolem();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"Fire"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-&gt; </a:t>
            </a: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FireImp();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-&gt; </a:t>
            </a: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Goblin();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</p:txBody>
      </p:sp>
      <p:sp>
        <p:nvSpPr>
          <p:cNvPr id="7" name="GiPuzzle circle"/>
          <p:cNvSpPr/>
          <p:nvPr/>
        </p:nvSpPr>
        <p:spPr>
          <a:xfrm>
            <a:off x="6217920" y="146304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Image 0" descr="GiPuzz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609344"/>
            <a:ext cx="438912" cy="4389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178040" y="141732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Жорстка прив'язка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Клієнт залежить від конкретних класів — нова варіація змушує редагувати старий код</a:t>
            </a:r>
            <a:endParaRPr lang="en-US" sz="1600" dirty="0"/>
          </a:p>
        </p:txBody>
      </p:sp>
      <p:sp>
        <p:nvSpPr>
          <p:cNvPr id="10" name="GiScrollUnfurled circle"/>
          <p:cNvSpPr/>
          <p:nvPr/>
        </p:nvSpPr>
        <p:spPr>
          <a:xfrm>
            <a:off x="6217920" y="265176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Image 1" descr="GiScrollUnfurl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798064"/>
            <a:ext cx="438912" cy="43891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178040" y="260604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Розкидана логіка вибору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Той самий switch копіюється в кілька місць і з часом розходиться</a:t>
            </a:r>
            <a:endParaRPr lang="en-US" sz="1600" dirty="0"/>
          </a:p>
        </p:txBody>
      </p:sp>
      <p:sp>
        <p:nvSpPr>
          <p:cNvPr id="13" name="GiHammerNails circle"/>
          <p:cNvSpPr/>
          <p:nvPr/>
        </p:nvSpPr>
        <p:spPr>
          <a:xfrm>
            <a:off x="6217920" y="384048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4" name="Image 2" descr="GiHammerNail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3986784"/>
            <a:ext cx="438912" cy="43891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178040" y="379476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Складна збірка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Багато параметрів, необов'язкові частини та правила — легко створити некоректний об'єкт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822960" y="51663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Породжувальні патерни відповідають на питання: </a:t>
            </a:r>
            <a:r>
              <a:rPr lang="en-US" sz="1800" b="1" dirty="0">
                <a:solidFill>
                  <a:schemeClr val="accent3"/>
                </a:solidFill>
              </a:rPr>
              <a:t>хто</a:t>
            </a:r>
            <a:r>
              <a:rPr lang="en-US" sz="1800" dirty="0">
                <a:solidFill>
                  <a:schemeClr val="tx1"/>
                </a:solidFill>
              </a:rPr>
              <a:t> створює, </a:t>
            </a:r>
            <a:r>
              <a:rPr lang="en-US" sz="1800" b="1" dirty="0">
                <a:solidFill>
                  <a:schemeClr val="accent1"/>
                </a:solidFill>
              </a:rPr>
              <a:t>що</a:t>
            </a:r>
            <a:r>
              <a:rPr lang="en-US" sz="1800" dirty="0">
                <a:solidFill>
                  <a:schemeClr val="tx1"/>
                </a:solidFill>
              </a:rPr>
              <a:t> саме створити і </a:t>
            </a:r>
            <a:r>
              <a:rPr lang="en-US" sz="1800" b="1" dirty="0">
                <a:solidFill>
                  <a:schemeClr val="accent2"/>
                </a:solidFill>
              </a:rPr>
              <a:t>як</a:t>
            </a:r>
            <a:r>
              <a:rPr lang="en-US" sz="1800" dirty="0">
                <a:solidFill>
                  <a:schemeClr val="tx1"/>
                </a:solidFill>
              </a:rPr>
              <a:t> зібрати об'єкт коректно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Породжувальні патерни в каталозі GoF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075688" cy="365760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</p:spPr>
      </p:sp>
      <p:sp>
        <p:nvSpPr>
          <p:cNvPr id="5" name="GiFactory circle"/>
          <p:cNvSpPr/>
          <p:nvPr/>
        </p:nvSpPr>
        <p:spPr>
          <a:xfrm>
            <a:off x="1083564" y="1828800"/>
            <a:ext cx="1005840" cy="10058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GiFacto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732" y="2029968"/>
            <a:ext cx="603504" cy="60350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3063240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Factory Method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3566160"/>
            <a:ext cx="1709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Підклас вирішує, який клас створити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" y="4526280"/>
            <a:ext cx="1197864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987552" y="4526280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сьогодні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807208" y="1463040"/>
            <a:ext cx="2075688" cy="365760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</p:spPr>
      </p:sp>
      <p:sp>
        <p:nvSpPr>
          <p:cNvPr id="12" name="GiCastle circle"/>
          <p:cNvSpPr/>
          <p:nvPr/>
        </p:nvSpPr>
        <p:spPr>
          <a:xfrm>
            <a:off x="3342132" y="182880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GiCas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0" y="2029968"/>
            <a:ext cx="603504" cy="60350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944368" y="3063240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Abstract Factory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2990088" y="3566160"/>
            <a:ext cx="1709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Створює сімейство пов'язаних об'єктів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3246120" y="4526280"/>
            <a:ext cx="1197864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3246120" y="4526280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сьогодні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065776" y="1463040"/>
            <a:ext cx="2075688" cy="365760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</p:spPr>
      </p:sp>
      <p:sp>
        <p:nvSpPr>
          <p:cNvPr id="19" name="GiAnvil circle"/>
          <p:cNvSpPr/>
          <p:nvPr/>
        </p:nvSpPr>
        <p:spPr>
          <a:xfrm>
            <a:off x="5600700" y="182880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mage 2" descr="GiAnvi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1868" y="2029968"/>
            <a:ext cx="603504" cy="60350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202936" y="3063240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Builder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5248656" y="3566160"/>
            <a:ext cx="1709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Збирає складний об'єкт крок за кроком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504688" y="4526280"/>
            <a:ext cx="1197864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5504688" y="4526280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сьогодні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7324344" y="1463040"/>
            <a:ext cx="2075688" cy="3657600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dash"/>
          </a:ln>
        </p:spPr>
      </p:sp>
      <p:sp>
        <p:nvSpPr>
          <p:cNvPr id="26" name="GiMagicSwirl circle"/>
          <p:cNvSpPr/>
          <p:nvPr/>
        </p:nvSpPr>
        <p:spPr>
          <a:xfrm>
            <a:off x="7859268" y="182880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7" name="Image 3" descr="GiMagicSwir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0436" y="2029968"/>
            <a:ext cx="603504" cy="60350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461504" y="3063240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Prototype</a:t>
            </a:r>
            <a:endParaRPr lang="en-US" sz="1800" dirty="0"/>
          </a:p>
        </p:txBody>
      </p:sp>
      <p:sp>
        <p:nvSpPr>
          <p:cNvPr id="29" name="Text 22"/>
          <p:cNvSpPr txBox="1"/>
          <p:nvPr/>
        </p:nvSpPr>
        <p:spPr>
          <a:xfrm>
            <a:off x="7507224" y="3566160"/>
            <a:ext cx="1709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Створює копію готового об'єкта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7507224" y="4526280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200" i="1" dirty="0">
                <a:solidFill>
                  <a:schemeClr val="tx2"/>
                </a:solidFill>
              </a:rPr>
              <a:t>минулі лекції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9582912" y="1463040"/>
            <a:ext cx="2075688" cy="3657600"/>
          </a:xfrm>
          <a:prstGeom prst="roundRect">
            <a:avLst>
              <a:gd name="adj" fmla="val 5286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dash"/>
          </a:ln>
        </p:spPr>
      </p:sp>
      <p:sp>
        <p:nvSpPr>
          <p:cNvPr id="32" name="GiDungeonGate circle"/>
          <p:cNvSpPr/>
          <p:nvPr/>
        </p:nvSpPr>
        <p:spPr>
          <a:xfrm>
            <a:off x="10117836" y="182880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3" name="Image 4" descr="GiDungeonGat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9004" y="2029968"/>
            <a:ext cx="603504" cy="60350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720072" y="3063240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Singleton</a:t>
            </a:r>
            <a:endParaRPr lang="en-US" sz="1800" dirty="0"/>
          </a:p>
        </p:txBody>
      </p:sp>
      <p:sp>
        <p:nvSpPr>
          <p:cNvPr id="35" name="Text 27"/>
          <p:cNvSpPr txBox="1"/>
          <p:nvPr/>
        </p:nvSpPr>
        <p:spPr>
          <a:xfrm>
            <a:off x="9765792" y="3566160"/>
            <a:ext cx="1709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Гарантує єдиний екземпляр класу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9765792" y="4526280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200" i="1" dirty="0">
                <a:solidFill>
                  <a:schemeClr val="tx2"/>
                </a:solidFill>
              </a:rPr>
              <a:t>минулі лекції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548640" y="54406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У проєкті є також Object Pool — поза каталогом GoF, але теж породжувальний патерн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Наскрізний приклад: гра Dungeon Raid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661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5" name="GiTroll circle"/>
          <p:cNvSpPr/>
          <p:nvPr/>
        </p:nvSpPr>
        <p:spPr>
          <a:xfrm>
            <a:off x="868680" y="178308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GiTrol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96596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011680" y="2029968"/>
            <a:ext cx="1828800" cy="4114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2011680" y="2029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Factory Method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Рівні в біомах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3429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Кожен рівень спавнить хвилю ворогів і підкріплення свого біому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4389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gof/creational/factorymethod/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297680" y="1463040"/>
            <a:ext cx="35661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13" name="GiCastle circle"/>
          <p:cNvSpPr/>
          <p:nvPr/>
        </p:nvSpPr>
        <p:spPr>
          <a:xfrm>
            <a:off x="4617720" y="17830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1" descr="GiCas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965960"/>
            <a:ext cx="548640" cy="54864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760720" y="2029968"/>
            <a:ext cx="1828800" cy="4114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5760720" y="2029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Abstract Factory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61772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Тематичні підземелля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4617720" y="3429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Стіни, монстр і скарб однієї теми мають пасувати одне одному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617720" y="4389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gof/creational/abstractfactory/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046720" y="1463040"/>
            <a:ext cx="35661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21" name="GiSwordman circle"/>
          <p:cNvSpPr/>
          <p:nvPr/>
        </p:nvSpPr>
        <p:spPr>
          <a:xfrm>
            <a:off x="8366760" y="178308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mage 2" descr="GiSwordma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1965960"/>
            <a:ext cx="548640" cy="54864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9509760" y="2029968"/>
            <a:ext cx="1828800" cy="4114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9509760" y="2029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Builder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836676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Редактор персонажа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8366760" y="3429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Герой має ім'я, клас і ще шість необов'язкових характеристик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8366760" y="4389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gof/creational/builder/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822960" y="51206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Гілки: </a:t>
            </a:r>
            <a:r>
              <a:rPr lang="en-US" sz="15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bad-practice-principles</a:t>
            </a:r>
            <a:r>
              <a:rPr lang="en-US" sz="1500" dirty="0">
                <a:solidFill>
                  <a:schemeClr val="tx1"/>
                </a:solidFill>
              </a:rPr>
              <a:t> (із «запахом»)  →  </a:t>
            </a:r>
            <a:r>
              <a:rPr lang="en-US" sz="15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best-practice-principles</a:t>
            </a:r>
            <a:r>
              <a:rPr lang="en-US" sz="1500" dirty="0">
                <a:solidFill>
                  <a:schemeClr val="tx1"/>
                </a:solidFill>
              </a:rPr>
              <a:t> (після рефакторингу)</a:t>
            </a:r>
            <a:endParaRPr lang="en-US" sz="15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74320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tx1"/>
                </a:solidFill>
              </a:rPr>
              <a:t>Factory Method</a:t>
            </a: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84048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Фабричний метод: підклас вирішує, який саме об'єкт створити</a:t>
            </a:r>
            <a:endParaRPr lang="en-US" sz="2000" dirty="0"/>
          </a:p>
        </p:txBody>
      </p:sp>
      <p:sp>
        <p:nvSpPr>
          <p:cNvPr id="5" name="section circle"/>
          <p:cNvSpPr/>
          <p:nvPr/>
        </p:nvSpPr>
        <p:spPr>
          <a:xfrm>
            <a:off x="8001000" y="1325880"/>
            <a:ext cx="3566160" cy="35661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Factory Metho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057400"/>
            <a:ext cx="2103120" cy="2103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Сценарій: рівні в різних біомах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6616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5" name="GiIceGolem circle"/>
          <p:cNvSpPr/>
          <p:nvPr/>
        </p:nvSpPr>
        <p:spPr>
          <a:xfrm>
            <a:off x="1737360" y="1737360"/>
            <a:ext cx="1188720" cy="11887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Image 0" descr="GiIceGol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104" y="1975104"/>
            <a:ext cx="713232" cy="7132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0632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Ice level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3474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ворог: Ice Golem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297680" y="1463040"/>
            <a:ext cx="356616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0" name="GiImpLaugh circle"/>
          <p:cNvSpPr/>
          <p:nvPr/>
        </p:nvSpPr>
        <p:spPr>
          <a:xfrm>
            <a:off x="5486400" y="1737360"/>
            <a:ext cx="1188720" cy="11887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Image 1" descr="GiImpLaug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44" y="1975104"/>
            <a:ext cx="713232" cy="7132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297680" y="30632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Fire level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4297680" y="3474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ворог: Fire Imp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8046720" y="1463040"/>
            <a:ext cx="356616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5" name="GiTroll circle"/>
          <p:cNvSpPr/>
          <p:nvPr/>
        </p:nvSpPr>
        <p:spPr>
          <a:xfrm>
            <a:off x="9235440" y="1737360"/>
            <a:ext cx="1188720" cy="11887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Image 2" descr="GiTrol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3184" y="1975104"/>
            <a:ext cx="713232" cy="7132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46720" y="30632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Swamp level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8046720" y="3474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ворог: Swamp Troll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10195560" y="1645920"/>
            <a:ext cx="1234440" cy="34747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10195560" y="16459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новий біом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4206240"/>
            <a:ext cx="544068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822960" y="420624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spawnWave(size)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хвиля з кількох ворогів на старті рівня</a:t>
            </a:r>
            <a:endParaRPr lang="en-US" sz="1700" dirty="0"/>
          </a:p>
        </p:txBody>
      </p:sp>
      <p:sp>
        <p:nvSpPr>
          <p:cNvPr id="23" name="Shape 17"/>
          <p:cNvSpPr/>
          <p:nvPr/>
        </p:nvSpPr>
        <p:spPr>
          <a:xfrm>
            <a:off x="6172200" y="4206240"/>
            <a:ext cx="544068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446520" y="420624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spawnReinforcement()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один ворог-підкріплення пізніше</a:t>
            </a:r>
            <a:endParaRPr lang="en-US" sz="1700" dirty="0"/>
          </a:p>
        </p:txBody>
      </p:sp>
      <p:sp>
        <p:nvSpPr>
          <p:cNvPr id="25" name="Shape 19"/>
          <p:cNvSpPr/>
          <p:nvPr/>
        </p:nvSpPr>
        <p:spPr>
          <a:xfrm>
            <a:off x="548640" y="5486400"/>
            <a:ext cx="1106424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822960" y="54864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Правило: </a:t>
            </a:r>
            <a:r>
              <a:rPr lang="en-US" sz="1700" dirty="0">
                <a:solidFill>
                  <a:schemeClr val="tx1"/>
                </a:solidFill>
              </a:rPr>
              <a:t>кожен ворог належить біому свого рівня</a:t>
            </a:r>
            <a:endParaRPr lang="en-US" sz="17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«Запах»: той самий switch у двох методах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DungeonLevel.java  (bad-practice)</a:t>
            </a:r>
            <a:endParaRPr lang="en-US" sz="1200" dirty="0"/>
          </a:p>
        </p:txBody>
      </p:sp>
      <p:sp>
        <p:nvSpPr>
          <p:cNvPr id="5" name="code panel"/>
          <p:cNvSpPr/>
          <p:nvPr/>
        </p:nvSpPr>
        <p:spPr>
          <a:xfrm>
            <a:off x="548640" y="1591056"/>
            <a:ext cx="6675120" cy="4602480"/>
          </a:xfrm>
          <a:prstGeom prst="roundRect">
            <a:avLst>
              <a:gd name="adj" fmla="val 1589"/>
            </a:avLst>
          </a:prstGeom>
          <a:solidFill>
            <a:schemeClr val="bg2"/>
          </a:solidFill>
          <a:ln/>
        </p:spPr>
      </p:sp>
      <p:sp>
        <p:nvSpPr>
          <p:cNvPr id="6" name="good line highlight"/>
          <p:cNvSpPr/>
          <p:nvPr/>
        </p:nvSpPr>
        <p:spPr>
          <a:xfrm>
            <a:off x="603504" y="3297936"/>
            <a:ext cx="6565392" cy="190500"/>
          </a:xfrm>
          <a:prstGeom prst="rect">
            <a:avLst/>
          </a:prstGeom>
          <a:solidFill>
            <a:schemeClr val="accent5">
              <a:alpha val="18000"/>
            </a:schemeClr>
          </a:solidFill>
          <a:ln/>
        </p:spPr>
      </p:sp>
      <p:sp>
        <p:nvSpPr>
          <p:cNvPr id="7" name="bad line highlight"/>
          <p:cNvSpPr/>
          <p:nvPr/>
        </p:nvSpPr>
        <p:spPr>
          <a:xfrm>
            <a:off x="603504" y="4631436"/>
            <a:ext cx="6565392" cy="190500"/>
          </a:xfrm>
          <a:prstGeom prst="rect">
            <a:avLst/>
          </a:prstGeom>
          <a:solidFill>
            <a:schemeClr val="accent4">
              <a:alpha val="18000"/>
            </a:schemeClr>
          </a:solidFill>
          <a:ln/>
        </p:spPr>
      </p:sp>
      <p:sp>
        <p:nvSpPr>
          <p:cNvPr id="8" name="bad line highlight"/>
          <p:cNvSpPr/>
          <p:nvPr/>
        </p:nvSpPr>
        <p:spPr>
          <a:xfrm>
            <a:off x="603504" y="4821936"/>
            <a:ext cx="6565392" cy="190500"/>
          </a:xfrm>
          <a:prstGeom prst="rect">
            <a:avLst/>
          </a:prstGeom>
          <a:solidFill>
            <a:schemeClr val="accent4">
              <a:alpha val="18000"/>
            </a:schemeClr>
          </a:solidFill>
          <a:ln/>
        </p:spPr>
      </p:sp>
      <p:sp>
        <p:nvSpPr>
          <p:cNvPr id="9" name="bad line highlight"/>
          <p:cNvSpPr/>
          <p:nvPr/>
        </p:nvSpPr>
        <p:spPr>
          <a:xfrm>
            <a:off x="603504" y="5012436"/>
            <a:ext cx="6565392" cy="190500"/>
          </a:xfrm>
          <a:prstGeom prst="rect">
            <a:avLst/>
          </a:prstGeom>
          <a:solidFill>
            <a:schemeClr val="accent4">
              <a:alpha val="18000"/>
            </a:schemeClr>
          </a:solidFill>
          <a:ln/>
        </p:spPr>
      </p:sp>
      <p:sp>
        <p:nvSpPr>
          <p:cNvPr id="10" name="bad line highlight"/>
          <p:cNvSpPr/>
          <p:nvPr/>
        </p:nvSpPr>
        <p:spPr>
          <a:xfrm>
            <a:off x="603504" y="5202936"/>
            <a:ext cx="6565392" cy="190500"/>
          </a:xfrm>
          <a:prstGeom prst="rect">
            <a:avLst/>
          </a:prstGeom>
          <a:solidFill>
            <a:schemeClr val="accent4">
              <a:alpha val="18000"/>
            </a:schemeClr>
          </a:solidFill>
          <a:ln/>
        </p:spPr>
      </p:sp>
      <p:sp>
        <p:nvSpPr>
          <p:cNvPr id="11" name="code"/>
          <p:cNvSpPr txBox="1"/>
          <p:nvPr/>
        </p:nvSpPr>
        <p:spPr>
          <a:xfrm>
            <a:off x="731520" y="1773936"/>
            <a:ext cx="6309360" cy="423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DungeonLevel {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String biome;  </a:t>
            </a:r>
            <a:r>
              <a:rPr lang="en-US" sz="1200" i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"Ice", "Fire", "Swamp"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List&lt;Enemy&gt; spawnWave(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size) {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r>
              <a:rPr lang="en-US" sz="1200" i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 (int i = 0; i &lt; size; i++) ...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Enemy enemy = 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(biome) {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"Ice"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-&gt; 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IceGolem();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"Fire"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-&gt; 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FireImp();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"Swamp"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-&gt; 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SwampTroll();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-&gt; 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Goblin();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};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}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Enemy spawnReinforcement() {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r>
              <a:rPr lang="en-US" sz="1200" i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copied before Swamp existed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(biome) {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"Ice"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-&gt; 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IceGolem();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"Fire"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-&gt; 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FireImp();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-&gt; 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Goblin();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};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}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80960" y="169164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68096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1664208"/>
            <a:ext cx="3337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switch по String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Вибір класу ворога «зашитий» у DungeonLevel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680960" y="301752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68096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2990088"/>
            <a:ext cx="3337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Копія без Swamp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spawnReinforcement() скопіювали до появи нового біому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680960" y="434340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680960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275320" y="4315968"/>
            <a:ext cx="3337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default ховає помилку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Замість падіння — тихий Goblin; компілятор мовчить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680960" y="5532120"/>
            <a:ext cx="393192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818120" y="5532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Новий біом = пошук усіх switch вручну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Наслідок у демо: гоблін у болоті</a:t>
            </a:r>
            <a:endParaRPr lang="en-US" sz="3200" dirty="0"/>
          </a:p>
        </p:txBody>
      </p:sp>
      <p:sp>
        <p:nvSpPr>
          <p:cNvPr id="4" name="console panel"/>
          <p:cNvSpPr/>
          <p:nvPr/>
        </p:nvSpPr>
        <p:spPr>
          <a:xfrm>
            <a:off x="548640" y="1463040"/>
            <a:ext cx="6949440" cy="2734056"/>
          </a:xfrm>
          <a:prstGeom prst="roundRect">
            <a:avLst>
              <a:gd name="adj" fmla="val 2676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1664208"/>
            <a:ext cx="654710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  Ice level: wave of 3 + 1 reinforcement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  wave:          [Ice Golem, Ice Golem, Ice Golem]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reinforcement: Ice Golem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  Fire level: wave of 3 + 1 reinforcement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  wave:          [Fire Imp, Fire Imp, Fire Imp]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reinforcement: Fire Imp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  Swamp level: wave of 3 + 1 reinforcement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  wave:          [Swamp Troll, Swamp Troll, Swamp Troll]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[FAIL] reinforcement: Goblin -- a Cave monster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in the Swamp level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863840" y="1463040"/>
            <a:ext cx="3749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7" name="GiTroll circle"/>
          <p:cNvSpPr/>
          <p:nvPr/>
        </p:nvSpPr>
        <p:spPr>
          <a:xfrm>
            <a:off x="8138160" y="1737360"/>
            <a:ext cx="868680" cy="8686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8" name="Image 0" descr="GiTrol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896" y="1911096"/>
            <a:ext cx="521208" cy="521208"/>
          </a:xfrm>
          <a:prstGeom prst="rect">
            <a:avLst/>
          </a:prstGeom>
        </p:spPr>
      </p:pic>
      <p:sp>
        <p:nvSpPr>
          <p:cNvPr id="9" name="GiGoblinHead circle"/>
          <p:cNvSpPr/>
          <p:nvPr/>
        </p:nvSpPr>
        <p:spPr>
          <a:xfrm>
            <a:off x="9144000" y="251460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Image 1" descr="GiGoblinHea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2688336"/>
            <a:ext cx="521208" cy="5212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058400" y="1737360"/>
            <a:ext cx="1508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3 × Swamp Troll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+ 1 Goblin ?!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7863840" y="3794760"/>
            <a:ext cx="3749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8092440" y="39319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із 2</a:t>
            </a:r>
            <a:endParaRPr lang="en-US" sz="5400" dirty="0"/>
          </a:p>
        </p:txBody>
      </p:sp>
      <p:sp>
        <p:nvSpPr>
          <p:cNvPr id="14" name="Text 9"/>
          <p:cNvSpPr txBox="1"/>
          <p:nvPr/>
        </p:nvSpPr>
        <p:spPr>
          <a:xfrm>
            <a:off x="8092440" y="48920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switch-ів оновили під час додавання Swamp. Компілятор не попередив.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Ідея патерну Factory Method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42062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160020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Визначення GoF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Визначає інтерфейс для створення об'єкта, але дозволяє підкласам вирішувати, який клас інстанціювати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Creator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DungeonLevel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5079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Factory method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2377440" y="45079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createEnemy()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0383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ConcreteCreator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377440" y="50383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SwampLevel, …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5686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Product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377440" y="55686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Enemy</a:t>
            </a:r>
            <a:endParaRPr lang="en-US" sz="1400" dirty="0"/>
          </a:p>
        </p:txBody>
      </p:sp>
      <p:sp>
        <p:nvSpPr>
          <p:cNvPr id="14" name="uml DungeonLevel"/>
          <p:cNvSpPr/>
          <p:nvPr/>
        </p:nvSpPr>
        <p:spPr>
          <a:xfrm>
            <a:off x="6629400" y="1325880"/>
            <a:ext cx="3566160" cy="1417320"/>
          </a:xfrm>
          <a:prstGeom prst="roundRect">
            <a:avLst>
              <a:gd name="adj" fmla="val 3871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20840" y="13990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tx2"/>
                </a:solidFill>
              </a:rPr>
              <a:t>«abstract»</a:t>
            </a:r>
            <a:endParaRPr lang="en-US" sz="1600" dirty="0"/>
          </a:p>
          <a:p>
            <a:pPr marL="0" indent="0" algn="ctr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DungeonLevel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629400" y="1956816"/>
            <a:ext cx="356616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766560" y="20299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spawnWave(size)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spawnReinforcement()</a:t>
            </a:r>
            <a:endParaRPr lang="en-US" sz="1200" dirty="0"/>
          </a:p>
          <a:p>
            <a:pPr marL="0" indent="0">
              <a:buNone/>
            </a:pPr>
            <a:r>
              <a:rPr lang="en-US" sz="1200" b="1" i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createEnemy(): Enemy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412480" y="2743200"/>
            <a:ext cx="0" cy="36576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headEnd type="triangle"/>
          </a:ln>
        </p:spPr>
      </p:sp>
      <p:sp>
        <p:nvSpPr>
          <p:cNvPr id="19" name="Shape 16"/>
          <p:cNvSpPr/>
          <p:nvPr/>
        </p:nvSpPr>
        <p:spPr>
          <a:xfrm>
            <a:off x="6149340" y="3108960"/>
            <a:ext cx="452628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49340" y="3108960"/>
            <a:ext cx="0" cy="32004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21" name="uml IceCaveLevel"/>
          <p:cNvSpPr/>
          <p:nvPr/>
        </p:nvSpPr>
        <p:spPr>
          <a:xfrm>
            <a:off x="5097780" y="3429000"/>
            <a:ext cx="2103120" cy="914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189220" y="35021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IceCaveLevel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097780" y="3922776"/>
            <a:ext cx="210312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234940" y="3995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createEnemy()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149340" y="4343400"/>
            <a:ext cx="0" cy="640080"/>
          </a:xfrm>
          <a:prstGeom prst="line">
            <a:avLst/>
          </a:prstGeom>
          <a:noFill/>
          <a:ln w="15875">
            <a:solidFill>
              <a:schemeClr val="tx2"/>
            </a:solidFill>
            <a:prstDash val="dash"/>
            <a:tailEnd type="arrow"/>
          </a:ln>
        </p:spPr>
      </p:sp>
      <p:sp>
        <p:nvSpPr>
          <p:cNvPr id="26" name="Text 23"/>
          <p:cNvSpPr txBox="1"/>
          <p:nvPr/>
        </p:nvSpPr>
        <p:spPr>
          <a:xfrm>
            <a:off x="6222492" y="4480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endParaRPr lang="en-US" sz="1100" dirty="0"/>
          </a:p>
        </p:txBody>
      </p:sp>
      <p:sp>
        <p:nvSpPr>
          <p:cNvPr id="27" name="uml IceGolem"/>
          <p:cNvSpPr/>
          <p:nvPr/>
        </p:nvSpPr>
        <p:spPr>
          <a:xfrm>
            <a:off x="5234940" y="4983480"/>
            <a:ext cx="182880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326380" y="50566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IceGolem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412480" y="3108960"/>
            <a:ext cx="0" cy="32004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30" name="uml FireVolcanoLevel"/>
          <p:cNvSpPr/>
          <p:nvPr/>
        </p:nvSpPr>
        <p:spPr>
          <a:xfrm>
            <a:off x="7360920" y="3429000"/>
            <a:ext cx="2103120" cy="914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52360" y="35021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FireVolcanoLevel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360920" y="3922776"/>
            <a:ext cx="210312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498080" y="3995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createEnemy()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8412480" y="4343400"/>
            <a:ext cx="0" cy="640080"/>
          </a:xfrm>
          <a:prstGeom prst="line">
            <a:avLst/>
          </a:prstGeom>
          <a:noFill/>
          <a:ln w="15875">
            <a:solidFill>
              <a:schemeClr val="tx2"/>
            </a:solidFill>
            <a:prstDash val="dash"/>
            <a:tailEnd type="arrow"/>
          </a:ln>
        </p:spPr>
      </p:sp>
      <p:sp>
        <p:nvSpPr>
          <p:cNvPr id="35" name="Text 32"/>
          <p:cNvSpPr txBox="1"/>
          <p:nvPr/>
        </p:nvSpPr>
        <p:spPr>
          <a:xfrm>
            <a:off x="8485632" y="4480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endParaRPr lang="en-US" sz="1100" dirty="0"/>
          </a:p>
        </p:txBody>
      </p:sp>
      <p:sp>
        <p:nvSpPr>
          <p:cNvPr id="36" name="uml FireImp"/>
          <p:cNvSpPr/>
          <p:nvPr/>
        </p:nvSpPr>
        <p:spPr>
          <a:xfrm>
            <a:off x="7498080" y="4983480"/>
            <a:ext cx="182880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589520" y="50566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FireImp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10675620" y="3108960"/>
            <a:ext cx="0" cy="32004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39" name="uml SwampLevel"/>
          <p:cNvSpPr/>
          <p:nvPr/>
        </p:nvSpPr>
        <p:spPr>
          <a:xfrm>
            <a:off x="9624060" y="3429000"/>
            <a:ext cx="2103120" cy="914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715500" y="35021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SwampLevel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9624060" y="3922776"/>
            <a:ext cx="210312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761220" y="3995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createEnemy()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10675620" y="4343400"/>
            <a:ext cx="0" cy="640080"/>
          </a:xfrm>
          <a:prstGeom prst="line">
            <a:avLst/>
          </a:prstGeom>
          <a:noFill/>
          <a:ln w="15875">
            <a:solidFill>
              <a:schemeClr val="tx2"/>
            </a:solidFill>
            <a:prstDash val="dash"/>
            <a:tailEnd type="arrow"/>
          </a:ln>
        </p:spPr>
      </p:sp>
      <p:sp>
        <p:nvSpPr>
          <p:cNvPr id="44" name="Text 41"/>
          <p:cNvSpPr txBox="1"/>
          <p:nvPr/>
        </p:nvSpPr>
        <p:spPr>
          <a:xfrm>
            <a:off x="10748772" y="4480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endParaRPr lang="en-US" sz="1100" dirty="0"/>
          </a:p>
        </p:txBody>
      </p:sp>
      <p:sp>
        <p:nvSpPr>
          <p:cNvPr id="45" name="uml SwampTroll"/>
          <p:cNvSpPr/>
          <p:nvPr/>
        </p:nvSpPr>
        <p:spPr>
          <a:xfrm>
            <a:off x="9761220" y="4983480"/>
            <a:ext cx="182880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852660" y="50566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SwampTroll</a:t>
            </a:r>
            <a:endParaRPr lang="en-US" sz="1600" dirty="0"/>
          </a:p>
        </p:txBody>
      </p:sp>
      <p:sp>
        <p:nvSpPr>
          <p:cNvPr id="47" name="Text 44"/>
          <p:cNvSpPr txBox="1"/>
          <p:nvPr/>
        </p:nvSpPr>
        <p:spPr>
          <a:xfrm>
            <a:off x="5120640" y="562356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chemeClr val="tx2"/>
                </a:solidFill>
              </a:rPr>
              <a:t>усі реалізують інтерфейс Enemy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Рефакторинг: базовий клас володіє алгоритмом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DungeonLevel.java</a:t>
            </a:r>
            <a:endParaRPr lang="en-US" sz="1200" dirty="0"/>
          </a:p>
        </p:txBody>
      </p:sp>
      <p:sp>
        <p:nvSpPr>
          <p:cNvPr id="5" name="code panel"/>
          <p:cNvSpPr/>
          <p:nvPr/>
        </p:nvSpPr>
        <p:spPr>
          <a:xfrm>
            <a:off x="548640" y="1591056"/>
            <a:ext cx="6400800" cy="4513580"/>
          </a:xfrm>
          <a:prstGeom prst="roundRect">
            <a:avLst>
              <a:gd name="adj" fmla="val 1621"/>
            </a:avLst>
          </a:prstGeom>
          <a:solidFill>
            <a:schemeClr val="bg2"/>
          </a:solidFill>
          <a:ln/>
        </p:spPr>
      </p:sp>
      <p:sp>
        <p:nvSpPr>
          <p:cNvPr id="6" name="good line highlight"/>
          <p:cNvSpPr/>
          <p:nvPr/>
        </p:nvSpPr>
        <p:spPr>
          <a:xfrm>
            <a:off x="603504" y="2853436"/>
            <a:ext cx="6291072" cy="215900"/>
          </a:xfrm>
          <a:prstGeom prst="rect">
            <a:avLst/>
          </a:prstGeom>
          <a:solidFill>
            <a:schemeClr val="accent5">
              <a:alpha val="18000"/>
            </a:schemeClr>
          </a:solidFill>
          <a:ln/>
        </p:spPr>
      </p:sp>
      <p:sp>
        <p:nvSpPr>
          <p:cNvPr id="7" name="good line highlight"/>
          <p:cNvSpPr/>
          <p:nvPr/>
        </p:nvSpPr>
        <p:spPr>
          <a:xfrm>
            <a:off x="603504" y="3932936"/>
            <a:ext cx="6291072" cy="215900"/>
          </a:xfrm>
          <a:prstGeom prst="rect">
            <a:avLst/>
          </a:prstGeom>
          <a:solidFill>
            <a:schemeClr val="accent5">
              <a:alpha val="18000"/>
            </a:schemeClr>
          </a:solidFill>
          <a:ln/>
        </p:spPr>
      </p:sp>
      <p:sp>
        <p:nvSpPr>
          <p:cNvPr id="8" name="good line highlight"/>
          <p:cNvSpPr/>
          <p:nvPr/>
        </p:nvSpPr>
        <p:spPr>
          <a:xfrm>
            <a:off x="603504" y="5228336"/>
            <a:ext cx="6291072" cy="215900"/>
          </a:xfrm>
          <a:prstGeom prst="rect">
            <a:avLst/>
          </a:prstGeom>
          <a:solidFill>
            <a:schemeClr val="accent5">
              <a:alpha val="18000"/>
            </a:schemeClr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31520" y="1773936"/>
            <a:ext cx="6035040" cy="4147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DungeonLevel {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String biome();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/** The factory method. */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Enemy createEnemy();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List&lt;Enemy&gt; spawnWave(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size) {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List&lt;Enemy&gt; wave = 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ArrayList&lt;&gt;();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i = </a:t>
            </a: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&lt; size; i++) {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wave.add(createEnemy());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}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wave;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}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Enemy spawnReinforcement() {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createEnemy();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}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06640" y="169164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40664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1664208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Алгоритм — у базі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spawnWave() та spawnReinforcement() однакові для всіх біомів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406640" y="306324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40664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3035808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Одна точка створення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Обидва методи кличуть createEnemy() — розійтися нема чому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406640" y="443484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406640" y="4434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001000" y="4407408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Компілятор нагадує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abstract: підклас без createEnemy() просто не скомпілюється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Новий біом — один новий підклас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SwampLevel.java</a:t>
            </a:r>
            <a:endParaRPr lang="en-US" sz="1200" dirty="0"/>
          </a:p>
        </p:txBody>
      </p:sp>
      <p:sp>
        <p:nvSpPr>
          <p:cNvPr id="5" name="code panel"/>
          <p:cNvSpPr/>
          <p:nvPr/>
        </p:nvSpPr>
        <p:spPr>
          <a:xfrm>
            <a:off x="548640" y="1591056"/>
            <a:ext cx="5486400" cy="3154680"/>
          </a:xfrm>
          <a:prstGeom prst="roundRect">
            <a:avLst>
              <a:gd name="adj" fmla="val 2319"/>
            </a:avLst>
          </a:prstGeom>
          <a:solidFill>
            <a:schemeClr val="bg2"/>
          </a:solidFill>
          <a:ln/>
        </p:spPr>
      </p:sp>
      <p:sp>
        <p:nvSpPr>
          <p:cNvPr id="6" name="good line highlight"/>
          <p:cNvSpPr/>
          <p:nvPr/>
        </p:nvSpPr>
        <p:spPr>
          <a:xfrm>
            <a:off x="603504" y="3831336"/>
            <a:ext cx="5376672" cy="228600"/>
          </a:xfrm>
          <a:prstGeom prst="rect">
            <a:avLst/>
          </a:prstGeom>
          <a:solidFill>
            <a:schemeClr val="accent5">
              <a:alpha val="18000"/>
            </a:schemeClr>
          </a:solidFill>
          <a:ln/>
        </p:spPr>
      </p:sp>
      <p:sp>
        <p:nvSpPr>
          <p:cNvPr id="7" name="code"/>
          <p:cNvSpPr txBox="1"/>
          <p:nvPr/>
        </p:nvSpPr>
        <p:spPr>
          <a:xfrm>
            <a:off x="731520" y="1773936"/>
            <a:ext cx="51206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SwampLevel </a:t>
            </a: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DungeonLevel {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String biome() {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"Swamp"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}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Enemy createEnemy() {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SwampTroll();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}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355080" y="128016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FactoryMethodDemo.java</a:t>
            </a:r>
            <a:endParaRPr lang="en-US" sz="1200" dirty="0"/>
          </a:p>
        </p:txBody>
      </p:sp>
      <p:sp>
        <p:nvSpPr>
          <p:cNvPr id="9" name="code panel"/>
          <p:cNvSpPr/>
          <p:nvPr/>
        </p:nvSpPr>
        <p:spPr>
          <a:xfrm>
            <a:off x="6355080" y="1591056"/>
            <a:ext cx="525780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0" name="code"/>
          <p:cNvSpPr txBox="1"/>
          <p:nvPr/>
        </p:nvSpPr>
        <p:spPr>
          <a:xfrm>
            <a:off x="6537960" y="1773936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(DungeonLevel level : List.of(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IceCaveLevel(),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FireVolcanoLevel(),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SwampLevel())) {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level.spawnWave(</a:t>
            </a: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level.spawnReinforcement();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355080" y="4160520"/>
            <a:ext cx="16459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55080" y="4297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→ 0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446520" y="4892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switch-ів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138160" y="4160520"/>
            <a:ext cx="16459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138160" y="4297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видалено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4892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Goblin-fallback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921240" y="4160520"/>
            <a:ext cx="16459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921240" y="4297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10012680" y="48920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змін у DungeonLevel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257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reinforcement: Swamp Troll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Factory Method: переваги та ціна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44068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5" name="GiCheckMark circle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Image 0" descr="GiCheck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77393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1645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Переваги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246888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Новий варіант — новий підклас (Open/Closed)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Компілятор не дасть забути createEnemy()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Одне місце створення замість копій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Клієнт знає лише абстракції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172200" y="1417320"/>
            <a:ext cx="544068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0" name="GiCrossMark circle"/>
          <p:cNvSpPr/>
          <p:nvPr/>
        </p:nvSpPr>
        <p:spPr>
          <a:xfrm>
            <a:off x="6446520" y="16459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Image 1" descr="GiCross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177393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269480" y="1645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Ціна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6492240" y="246888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Потрібна ієрархія підкласів — класів більшає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Спадкування: продукт зафіксовано разом із підкласом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Не плутати зі static factory (List.of()) — це інше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822960" y="51206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У JDK: </a:t>
            </a: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Collection.iterator()</a:t>
            </a:r>
            <a:r>
              <a:rPr lang="en-US" sz="1600" dirty="0">
                <a:solidFill>
                  <a:schemeClr val="tx1"/>
                </a:solidFill>
              </a:rPr>
              <a:t> — кожна колекція створює свій Iterator, а спільні алгоритми працюють через нього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74320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tx1"/>
                </a:solidFill>
              </a:rPr>
              <a:t>Abstract Factory</a:t>
            </a: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84048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Абстрактна фабрика: сімейство пов'язаних об'єктів, які мають пасувати одне одному</a:t>
            </a:r>
            <a:endParaRPr lang="en-US" sz="2000" dirty="0"/>
          </a:p>
        </p:txBody>
      </p:sp>
      <p:sp>
        <p:nvSpPr>
          <p:cNvPr id="5" name="section circle"/>
          <p:cNvSpPr/>
          <p:nvPr/>
        </p:nvSpPr>
        <p:spPr>
          <a:xfrm>
            <a:off x="8001000" y="1325880"/>
            <a:ext cx="3566160" cy="35661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Abstract Facto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057400"/>
            <a:ext cx="2103120" cy="2103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Сценарій: тематичні підземелля</a:t>
            </a:r>
            <a:endParaRPr lang="en-US" sz="3200" dirty="0"/>
          </a:p>
        </p:txBody>
      </p:sp>
      <p:sp>
        <p:nvSpPr>
          <p:cNvPr id="4" name="GiBrickWall circle"/>
          <p:cNvSpPr/>
          <p:nvPr/>
        </p:nvSpPr>
        <p:spPr>
          <a:xfrm>
            <a:off x="4206240" y="13258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GiBrickWal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1481328"/>
            <a:ext cx="466344" cy="46634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291840" y="2148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Стіна (Wall)</a:t>
            </a:r>
            <a:endParaRPr lang="en-US" sz="1600" dirty="0"/>
          </a:p>
        </p:txBody>
      </p:sp>
      <p:sp>
        <p:nvSpPr>
          <p:cNvPr id="7" name="GiSpikedDragonHead circle"/>
          <p:cNvSpPr/>
          <p:nvPr/>
        </p:nvSpPr>
        <p:spPr>
          <a:xfrm>
            <a:off x="6995160" y="13258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1" descr="GiSpikedDragonHea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08" y="1481328"/>
            <a:ext cx="466344" cy="46634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080760" y="2148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Монстр (Monster)</a:t>
            </a:r>
            <a:endParaRPr lang="en-US" sz="1600" dirty="0"/>
          </a:p>
        </p:txBody>
      </p:sp>
      <p:sp>
        <p:nvSpPr>
          <p:cNvPr id="10" name="GiChest circle"/>
          <p:cNvSpPr/>
          <p:nvPr/>
        </p:nvSpPr>
        <p:spPr>
          <a:xfrm>
            <a:off x="9784080" y="13258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2" descr="GiChes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9528" y="1481328"/>
            <a:ext cx="466344" cy="46634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869680" y="2148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Скарб (Treasure)</a:t>
            </a: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>
            <a:off x="548640" y="2697480"/>
            <a:ext cx="2560320" cy="1005840"/>
          </a:xfrm>
          <a:prstGeom prst="roundRect">
            <a:avLst>
              <a:gd name="adj" fmla="val 10909"/>
            </a:avLst>
          </a:prstGeom>
          <a:solidFill>
            <a:schemeClr val="accent6"/>
          </a:solidFill>
          <a:ln/>
        </p:spPr>
      </p:sp>
      <p:pic>
        <p:nvPicPr>
          <p:cNvPr id="14" name="Image 3" descr="Ic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926080"/>
            <a:ext cx="548640" cy="54864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463040" y="26974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Ice</a:t>
            </a:r>
            <a:endParaRPr lang="en-US" sz="2200" dirty="0"/>
          </a:p>
        </p:txBody>
      </p:sp>
      <p:sp>
        <p:nvSpPr>
          <p:cNvPr id="16" name="Shape 9"/>
          <p:cNvSpPr/>
          <p:nvPr/>
        </p:nvSpPr>
        <p:spPr>
          <a:xfrm>
            <a:off x="3291840" y="2697480"/>
            <a:ext cx="2606040" cy="1005840"/>
          </a:xfrm>
          <a:prstGeom prst="roundRect">
            <a:avLst>
              <a:gd name="adj" fmla="val 10909"/>
            </a:avLst>
          </a:prstGeom>
          <a:solidFill>
            <a:schemeClr val="accent6">
              <a:alpha val="14000"/>
            </a:schemeClr>
          </a:solidFill>
          <a:ln/>
        </p:spPr>
      </p:sp>
      <p:sp>
        <p:nvSpPr>
          <p:cNvPr id="17" name="Text 10"/>
          <p:cNvSpPr txBox="1"/>
          <p:nvPr/>
        </p:nvSpPr>
        <p:spPr>
          <a:xfrm>
            <a:off x="3291840" y="26974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tx1"/>
                </a:solidFill>
              </a:rPr>
              <a:t>frozen ice blocks</a:t>
            </a:r>
            <a:endParaRPr lang="en-US" sz="1700" dirty="0"/>
          </a:p>
        </p:txBody>
      </p:sp>
      <p:sp>
        <p:nvSpPr>
          <p:cNvPr id="18" name="Shape 11"/>
          <p:cNvSpPr/>
          <p:nvPr/>
        </p:nvSpPr>
        <p:spPr>
          <a:xfrm>
            <a:off x="6080760" y="2697480"/>
            <a:ext cx="2606040" cy="1005840"/>
          </a:xfrm>
          <a:prstGeom prst="roundRect">
            <a:avLst>
              <a:gd name="adj" fmla="val 10909"/>
            </a:avLst>
          </a:prstGeom>
          <a:solidFill>
            <a:schemeClr val="accent6">
              <a:alpha val="14000"/>
            </a:schemeClr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6080760" y="26974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tx1"/>
                </a:solidFill>
              </a:rPr>
              <a:t>Ice Golem</a:t>
            </a:r>
            <a:endParaRPr lang="en-US" sz="1700" dirty="0"/>
          </a:p>
        </p:txBody>
      </p:sp>
      <p:sp>
        <p:nvSpPr>
          <p:cNvPr id="20" name="Shape 13"/>
          <p:cNvSpPr/>
          <p:nvPr/>
        </p:nvSpPr>
        <p:spPr>
          <a:xfrm>
            <a:off x="8869680" y="2697480"/>
            <a:ext cx="2606040" cy="1005840"/>
          </a:xfrm>
          <a:prstGeom prst="roundRect">
            <a:avLst>
              <a:gd name="adj" fmla="val 10909"/>
            </a:avLst>
          </a:prstGeom>
          <a:solidFill>
            <a:schemeClr val="accent6">
              <a:alpha val="14000"/>
            </a:schemeClr>
          </a:solidFill>
          <a:ln/>
        </p:spPr>
      </p:sp>
      <p:sp>
        <p:nvSpPr>
          <p:cNvPr id="21" name="Text 14"/>
          <p:cNvSpPr txBox="1"/>
          <p:nvPr/>
        </p:nvSpPr>
        <p:spPr>
          <a:xfrm>
            <a:off x="8869680" y="269748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tx1"/>
                </a:solidFill>
              </a:rPr>
              <a:t>Frost Sword</a:t>
            </a:r>
            <a:endParaRPr lang="en-US" sz="1700" dirty="0"/>
          </a:p>
        </p:txBody>
      </p:sp>
      <p:sp>
        <p:nvSpPr>
          <p:cNvPr id="22" name="Shape 15"/>
          <p:cNvSpPr/>
          <p:nvPr/>
        </p:nvSpPr>
        <p:spPr>
          <a:xfrm>
            <a:off x="548640" y="3886200"/>
            <a:ext cx="2560320" cy="1005840"/>
          </a:xfrm>
          <a:prstGeom prst="roundRect">
            <a:avLst>
              <a:gd name="adj" fmla="val 10909"/>
            </a:avLst>
          </a:prstGeom>
          <a:solidFill>
            <a:schemeClr val="accent4"/>
          </a:solidFill>
          <a:ln/>
        </p:spPr>
      </p:sp>
      <p:pic>
        <p:nvPicPr>
          <p:cNvPr id="23" name="Image 4" descr="Fir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114800"/>
            <a:ext cx="548640" cy="54864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463040" y="38862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Fire</a:t>
            </a:r>
            <a:endParaRPr lang="en-US" sz="2200" dirty="0"/>
          </a:p>
        </p:txBody>
      </p:sp>
      <p:sp>
        <p:nvSpPr>
          <p:cNvPr id="25" name="Shape 17"/>
          <p:cNvSpPr/>
          <p:nvPr/>
        </p:nvSpPr>
        <p:spPr>
          <a:xfrm>
            <a:off x="3291840" y="3886200"/>
            <a:ext cx="2606040" cy="1005840"/>
          </a:xfrm>
          <a:prstGeom prst="roundRect">
            <a:avLst>
              <a:gd name="adj" fmla="val 10909"/>
            </a:avLst>
          </a:prstGeom>
          <a:solidFill>
            <a:schemeClr val="accent4">
              <a:alpha val="14000"/>
            </a:schemeClr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3291840" y="38862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tx1"/>
                </a:solidFill>
              </a:rPr>
              <a:t>glowing lava rock</a:t>
            </a:r>
            <a:endParaRPr lang="en-US" sz="1700" dirty="0"/>
          </a:p>
        </p:txBody>
      </p:sp>
      <p:sp>
        <p:nvSpPr>
          <p:cNvPr id="27" name="Shape 19"/>
          <p:cNvSpPr/>
          <p:nvPr/>
        </p:nvSpPr>
        <p:spPr>
          <a:xfrm>
            <a:off x="6080760" y="3886200"/>
            <a:ext cx="2606040" cy="1005840"/>
          </a:xfrm>
          <a:prstGeom prst="roundRect">
            <a:avLst>
              <a:gd name="adj" fmla="val 10909"/>
            </a:avLst>
          </a:prstGeom>
          <a:solidFill>
            <a:schemeClr val="accent4">
              <a:alpha val="14000"/>
            </a:schemeClr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6080760" y="38862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tx1"/>
                </a:solidFill>
              </a:rPr>
              <a:t>Fire Imp</a:t>
            </a:r>
            <a:endParaRPr lang="en-US" sz="1700" dirty="0"/>
          </a:p>
        </p:txBody>
      </p:sp>
      <p:sp>
        <p:nvSpPr>
          <p:cNvPr id="29" name="Shape 21"/>
          <p:cNvSpPr/>
          <p:nvPr/>
        </p:nvSpPr>
        <p:spPr>
          <a:xfrm>
            <a:off x="8869680" y="3886200"/>
            <a:ext cx="2606040" cy="1005840"/>
          </a:xfrm>
          <a:prstGeom prst="roundRect">
            <a:avLst>
              <a:gd name="adj" fmla="val 10909"/>
            </a:avLst>
          </a:prstGeom>
          <a:solidFill>
            <a:schemeClr val="accent4">
              <a:alpha val="14000"/>
            </a:schemeClr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8869680" y="38862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tx1"/>
                </a:solidFill>
              </a:rPr>
              <a:t>Flame Bow</a:t>
            </a:r>
            <a:endParaRPr lang="en-US" sz="1700" dirty="0"/>
          </a:p>
        </p:txBody>
      </p:sp>
      <p:sp>
        <p:nvSpPr>
          <p:cNvPr id="31" name="Shape 23"/>
          <p:cNvSpPr/>
          <p:nvPr/>
        </p:nvSpPr>
        <p:spPr>
          <a:xfrm>
            <a:off x="548640" y="5166360"/>
            <a:ext cx="1106424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822960" y="51663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Правило: </a:t>
            </a:r>
            <a:r>
              <a:rPr lang="en-US" sz="1800" dirty="0">
                <a:solidFill>
                  <a:schemeClr val="tx1"/>
                </a:solidFill>
              </a:rPr>
              <a:t>частини однієї теми — це сімейство. Змішувати теми не можна.</a:t>
            </a:r>
            <a:endParaRPr lang="en-US" sz="18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«Запах»: генератор, скопійований для нової теми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IceDungeonGenerator.java</a:t>
            </a:r>
            <a:endParaRPr lang="en-US" sz="1200" dirty="0"/>
          </a:p>
        </p:txBody>
      </p:sp>
      <p:sp>
        <p:nvSpPr>
          <p:cNvPr id="5" name="code panel"/>
          <p:cNvSpPr/>
          <p:nvPr/>
        </p:nvSpPr>
        <p:spPr>
          <a:xfrm>
            <a:off x="548640" y="1591056"/>
            <a:ext cx="5440680" cy="2037080"/>
          </a:xfrm>
          <a:prstGeom prst="roundRect">
            <a:avLst>
              <a:gd name="adj" fmla="val 3591"/>
            </a:avLst>
          </a:prstGeom>
          <a:solidFill>
            <a:schemeClr val="bg2"/>
          </a:solidFill>
          <a:ln/>
        </p:spPr>
      </p:sp>
      <p:sp>
        <p:nvSpPr>
          <p:cNvPr id="6" name="code"/>
          <p:cNvSpPr txBox="1"/>
          <p:nvPr/>
        </p:nvSpPr>
        <p:spPr>
          <a:xfrm>
            <a:off x="731520" y="1773936"/>
            <a:ext cx="5074920" cy="167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IceDungeonGenerator {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Dungeon generate() {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Wall wall = 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IceWall();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Monster monster = 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IceGolem();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Treasure treasure = 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FrostChest();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Dungeon(wall, monster, treasure);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}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172200" y="12801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FireDungeonGenerator.java</a:t>
            </a:r>
            <a:endParaRPr lang="en-US" sz="1200" dirty="0"/>
          </a:p>
        </p:txBody>
      </p:sp>
      <p:sp>
        <p:nvSpPr>
          <p:cNvPr id="8" name="code panel"/>
          <p:cNvSpPr/>
          <p:nvPr/>
        </p:nvSpPr>
        <p:spPr>
          <a:xfrm>
            <a:off x="6172200" y="1591056"/>
            <a:ext cx="5440680" cy="2037080"/>
          </a:xfrm>
          <a:prstGeom prst="roundRect">
            <a:avLst>
              <a:gd name="adj" fmla="val 3591"/>
            </a:avLst>
          </a:prstGeom>
          <a:solidFill>
            <a:schemeClr val="bg2"/>
          </a:solidFill>
          <a:ln/>
        </p:spPr>
      </p:sp>
      <p:sp>
        <p:nvSpPr>
          <p:cNvPr id="9" name="bad line highlight"/>
          <p:cNvSpPr/>
          <p:nvPr/>
        </p:nvSpPr>
        <p:spPr>
          <a:xfrm>
            <a:off x="6227064" y="2586736"/>
            <a:ext cx="5330952" cy="203200"/>
          </a:xfrm>
          <a:prstGeom prst="rect">
            <a:avLst/>
          </a:prstGeom>
          <a:solidFill>
            <a:schemeClr val="accent4">
              <a:alpha val="18000"/>
            </a:schemeClr>
          </a:solidFill>
          <a:ln/>
        </p:spPr>
      </p:sp>
      <p:sp>
        <p:nvSpPr>
          <p:cNvPr id="10" name="code"/>
          <p:cNvSpPr txBox="1"/>
          <p:nvPr/>
        </p:nvSpPr>
        <p:spPr>
          <a:xfrm>
            <a:off x="6355080" y="1773936"/>
            <a:ext cx="5074920" cy="167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FireDungeonGenerator {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Dungeon generate() {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Wall wall = 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LavaWall();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Monster monster = 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FireImp();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Treasure treasure = 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FrostChest(); </a:t>
            </a:r>
            <a:r>
              <a:rPr lang="en-US" sz="1200" i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!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Dungeon(wall, monster, treasure);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}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434340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4315968"/>
            <a:ext cx="10469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Сімейство ніде не описане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Що IceWall, IceGolem і FrostChest — разом, знає лише розробник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521208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48640" y="5212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5184648"/>
            <a:ext cx="10469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Кожна частина — окремий new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Змінили дві з трьох — компілятор не заперечує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Наслідок у демо: Frost Sword у лаві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66160" cy="2606040"/>
          </a:xfrm>
          <a:prstGeom prst="roundRect">
            <a:avLst>
              <a:gd name="adj" fmla="val 4211"/>
            </a:avLst>
          </a:prstGeom>
          <a:solidFill>
            <a:schemeClr val="accent4">
              <a:alpha val="14000"/>
            </a:schemeClr>
          </a:solidFill>
          <a:ln/>
        </p:spPr>
      </p:sp>
      <p:sp>
        <p:nvSpPr>
          <p:cNvPr id="5" name="GiBrickWall circle"/>
          <p:cNvSpPr/>
          <p:nvPr/>
        </p:nvSpPr>
        <p:spPr>
          <a:xfrm>
            <a:off x="868680" y="1783080"/>
            <a:ext cx="960120" cy="9601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mage 0" descr="GiBrickWal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1975104"/>
            <a:ext cx="576072" cy="576072"/>
          </a:xfrm>
          <a:prstGeom prst="rect">
            <a:avLst/>
          </a:prstGeom>
        </p:spPr>
      </p:pic>
      <p:sp>
        <p:nvSpPr>
          <p:cNvPr id="7" name="GiCheckMark circle"/>
          <p:cNvSpPr/>
          <p:nvPr/>
        </p:nvSpPr>
        <p:spPr>
          <a:xfrm>
            <a:off x="3246120" y="17830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8" name="Image 1" descr="GiCheck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892808"/>
            <a:ext cx="329184" cy="32918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6868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Wall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86868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LavaWall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4297680" y="1463040"/>
            <a:ext cx="3566160" cy="2606040"/>
          </a:xfrm>
          <a:prstGeom prst="roundRect">
            <a:avLst>
              <a:gd name="adj" fmla="val 4211"/>
            </a:avLst>
          </a:prstGeom>
          <a:solidFill>
            <a:schemeClr val="accent4">
              <a:alpha val="14000"/>
            </a:schemeClr>
          </a:solidFill>
          <a:ln/>
        </p:spPr>
      </p:sp>
      <p:sp>
        <p:nvSpPr>
          <p:cNvPr id="12" name="GiImpLaugh circle"/>
          <p:cNvSpPr/>
          <p:nvPr/>
        </p:nvSpPr>
        <p:spPr>
          <a:xfrm>
            <a:off x="4617720" y="1783080"/>
            <a:ext cx="960120" cy="9601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Image 2" descr="GiImpLaugh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1975104"/>
            <a:ext cx="576072" cy="576072"/>
          </a:xfrm>
          <a:prstGeom prst="rect">
            <a:avLst/>
          </a:prstGeom>
        </p:spPr>
      </p:pic>
      <p:sp>
        <p:nvSpPr>
          <p:cNvPr id="14" name="GiCheckMark circle"/>
          <p:cNvSpPr/>
          <p:nvPr/>
        </p:nvSpPr>
        <p:spPr>
          <a:xfrm>
            <a:off x="6995160" y="17830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Image 3" descr="GiCheck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1892808"/>
            <a:ext cx="329184" cy="32918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61772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Monster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461772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FireImp</a:t>
            </a:r>
            <a:endParaRPr lang="en-US" sz="2000" dirty="0"/>
          </a:p>
        </p:txBody>
      </p:sp>
      <p:sp>
        <p:nvSpPr>
          <p:cNvPr id="18" name="Shape 11"/>
          <p:cNvSpPr/>
          <p:nvPr/>
        </p:nvSpPr>
        <p:spPr>
          <a:xfrm>
            <a:off x="8046720" y="1463040"/>
            <a:ext cx="3566160" cy="2606040"/>
          </a:xfrm>
          <a:prstGeom prst="roundRect">
            <a:avLst>
              <a:gd name="adj" fmla="val 4211"/>
            </a:avLst>
          </a:prstGeom>
          <a:solidFill>
            <a:schemeClr val="accent6">
              <a:alpha val="14000"/>
            </a:schemeClr>
          </a:solidFill>
          <a:ln w="31750">
            <a:solidFill>
              <a:schemeClr val="accent4"/>
            </a:solidFill>
            <a:prstDash val="solid"/>
          </a:ln>
        </p:spPr>
      </p:sp>
      <p:sp>
        <p:nvSpPr>
          <p:cNvPr id="19" name="GiChest circle"/>
          <p:cNvSpPr/>
          <p:nvPr/>
        </p:nvSpPr>
        <p:spPr>
          <a:xfrm>
            <a:off x="8366760" y="1783080"/>
            <a:ext cx="960120" cy="9601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0" name="Image 4" descr="GiChes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8784" y="1975104"/>
            <a:ext cx="576072" cy="576072"/>
          </a:xfrm>
          <a:prstGeom prst="rect">
            <a:avLst/>
          </a:prstGeom>
        </p:spPr>
      </p:pic>
      <p:sp>
        <p:nvSpPr>
          <p:cNvPr id="21" name="GiCrossMark circle"/>
          <p:cNvSpPr/>
          <p:nvPr/>
        </p:nvSpPr>
        <p:spPr>
          <a:xfrm>
            <a:off x="10744200" y="178308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2" name="Image 5" descr="GiCrossMark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3928" y="1892808"/>
            <a:ext cx="329184" cy="329184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836676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Treasure</a:t>
            </a:r>
            <a:endParaRPr lang="en-US" sz="1500" dirty="0"/>
          </a:p>
        </p:txBody>
      </p:sp>
      <p:sp>
        <p:nvSpPr>
          <p:cNvPr id="24" name="Text 15"/>
          <p:cNvSpPr txBox="1"/>
          <p:nvPr/>
        </p:nvSpPr>
        <p:spPr>
          <a:xfrm>
            <a:off x="836676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FrostChest</a:t>
            </a:r>
            <a:endParaRPr lang="en-US" sz="2000" dirty="0"/>
          </a:p>
        </p:txBody>
      </p:sp>
      <p:sp>
        <p:nvSpPr>
          <p:cNvPr id="25" name="console panel"/>
          <p:cNvSpPr/>
          <p:nvPr/>
        </p:nvSpPr>
        <p:spPr>
          <a:xfrm>
            <a:off x="548640" y="4389120"/>
            <a:ext cx="11064240" cy="1095756"/>
          </a:xfrm>
          <a:prstGeom prst="roundRect">
            <a:avLst>
              <a:gd name="adj" fmla="val 6676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Text 17"/>
          <p:cNvSpPr txBox="1"/>
          <p:nvPr/>
        </p:nvSpPr>
        <p:spPr>
          <a:xfrm>
            <a:off x="749808" y="4590288"/>
            <a:ext cx="1066190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  Generating the Fire dungeon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  walls of glowing lava rock, guarded by Fire Imp, chest with a Frost Sword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[FAIL] the Fire dungeon mixes themes [Fire, Ice] -- a Frost Sword is lying in the lava</a:t>
            </a:r>
            <a:endParaRPr lang="en-US" sz="125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Ідея Abstract Factory: сімейства × типи продуктів</a:t>
            </a:r>
            <a:endParaRPr lang="en-US" sz="3200" dirty="0"/>
          </a:p>
        </p:txBody>
      </p:sp>
      <p:sp>
        <p:nvSpPr>
          <p:cNvPr id="4" name="uml DungeonGenerator"/>
          <p:cNvSpPr/>
          <p:nvPr/>
        </p:nvSpPr>
        <p:spPr>
          <a:xfrm>
            <a:off x="548640" y="2834640"/>
            <a:ext cx="2240280" cy="105156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29077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tx2"/>
                </a:solidFill>
              </a:rPr>
              <a:t>client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DungeonGenerator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788920" y="3364992"/>
            <a:ext cx="36576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arrow"/>
          </a:ln>
        </p:spPr>
      </p:sp>
      <p:sp>
        <p:nvSpPr>
          <p:cNvPr id="7" name="Shape 4"/>
          <p:cNvSpPr/>
          <p:nvPr/>
        </p:nvSpPr>
        <p:spPr>
          <a:xfrm>
            <a:off x="3246120" y="1325880"/>
            <a:ext cx="269748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246120" y="132588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bg1"/>
                </a:solidFill>
              </a:rPr>
              <a:t>«interface»</a:t>
            </a:r>
            <a:endParaRPr lang="en-US" sz="1600" dirty="0"/>
          </a:p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DungeonThemeFactory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080760" y="1325880"/>
            <a:ext cx="17830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pic>
        <p:nvPicPr>
          <p:cNvPr id="10" name="Image 0" descr="createWall(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41732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080760" y="2011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createWall()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55280" y="1325880"/>
            <a:ext cx="17830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pic>
        <p:nvPicPr>
          <p:cNvPr id="13" name="Image 1" descr="createMonster(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141732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955280" y="2011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createMonster()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9829800" y="1325880"/>
            <a:ext cx="17830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pic>
        <p:nvPicPr>
          <p:cNvPr id="16" name="Image 2" descr="createTreasure(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9880" y="141732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829800" y="2011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createTreasure()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3246120" y="2651760"/>
            <a:ext cx="2697480" cy="96012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3246120" y="265176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IceThemeFactory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6080760" y="2651760"/>
            <a:ext cx="1783080" cy="960120"/>
          </a:xfrm>
          <a:prstGeom prst="roundRect">
            <a:avLst>
              <a:gd name="adj" fmla="val 11429"/>
            </a:avLst>
          </a:prstGeom>
          <a:solidFill>
            <a:schemeClr val="accent6">
              <a:alpha val="14000"/>
            </a:schemeClr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6080760" y="265176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IceWall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7955280" y="2651760"/>
            <a:ext cx="1783080" cy="960120"/>
          </a:xfrm>
          <a:prstGeom prst="roundRect">
            <a:avLst>
              <a:gd name="adj" fmla="val 11429"/>
            </a:avLst>
          </a:prstGeom>
          <a:solidFill>
            <a:schemeClr val="accent6">
              <a:alpha val="14000"/>
            </a:schemeClr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7955280" y="265176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IceGolem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9829800" y="2651760"/>
            <a:ext cx="1783080" cy="960120"/>
          </a:xfrm>
          <a:prstGeom prst="roundRect">
            <a:avLst>
              <a:gd name="adj" fmla="val 11429"/>
            </a:avLst>
          </a:prstGeom>
          <a:solidFill>
            <a:schemeClr val="accent6">
              <a:alpha val="14000"/>
            </a:schemeClr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9829800" y="265176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FrostChest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3246120" y="3749040"/>
            <a:ext cx="2697480" cy="96012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3246120" y="374904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FireThemeFactory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6080760" y="3749040"/>
            <a:ext cx="1783080" cy="960120"/>
          </a:xfrm>
          <a:prstGeom prst="roundRect">
            <a:avLst>
              <a:gd name="adj" fmla="val 11429"/>
            </a:avLst>
          </a:prstGeom>
          <a:solidFill>
            <a:schemeClr val="accent4">
              <a:alpha val="14000"/>
            </a:schemeClr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6080760" y="37490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LavaWall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7955280" y="3749040"/>
            <a:ext cx="1783080" cy="960120"/>
          </a:xfrm>
          <a:prstGeom prst="roundRect">
            <a:avLst>
              <a:gd name="adj" fmla="val 11429"/>
            </a:avLst>
          </a:prstGeom>
          <a:solidFill>
            <a:schemeClr val="accent4">
              <a:alpha val="14000"/>
            </a:schemeClr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7955280" y="37490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FireImp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9829800" y="3749040"/>
            <a:ext cx="1783080" cy="960120"/>
          </a:xfrm>
          <a:prstGeom prst="roundRect">
            <a:avLst>
              <a:gd name="adj" fmla="val 11429"/>
            </a:avLst>
          </a:prstGeom>
          <a:solidFill>
            <a:schemeClr val="accent4">
              <a:alpha val="14000"/>
            </a:schemeClr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9829800" y="37490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EmberChest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548640" y="4892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Рядок</a:t>
            </a:r>
            <a:r>
              <a:rPr lang="en-US" sz="1600" dirty="0">
                <a:solidFill>
                  <a:schemeClr val="tx1"/>
                </a:solidFill>
              </a:rPr>
              <a:t> = сімейство = одна конкретна фабрика      </a:t>
            </a:r>
            <a:r>
              <a:rPr lang="en-US" sz="1600" b="1" dirty="0">
                <a:solidFill>
                  <a:schemeClr val="accent1"/>
                </a:solidFill>
              </a:rPr>
              <a:t>Стовпчик</a:t>
            </a:r>
            <a:r>
              <a:rPr lang="en-US" sz="1600" dirty="0">
                <a:solidFill>
                  <a:schemeClr val="tx1"/>
                </a:solidFill>
              </a:rPr>
              <a:t> = тип продукту = один метод createXxx()</a:t>
            </a:r>
            <a:endParaRPr lang="en-US" sz="1600" dirty="0"/>
          </a:p>
        </p:txBody>
      </p:sp>
      <p:sp>
        <p:nvSpPr>
          <p:cNvPr id="35" name="Shape 29"/>
          <p:cNvSpPr/>
          <p:nvPr/>
        </p:nvSpPr>
        <p:spPr>
          <a:xfrm>
            <a:off x="548640" y="5394960"/>
            <a:ext cx="1106424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777240" y="53949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GoF: </a:t>
            </a:r>
            <a:r>
              <a:rPr lang="en-US" sz="1600" i="1" dirty="0">
                <a:solidFill>
                  <a:schemeClr val="tx1"/>
                </a:solidFill>
              </a:rPr>
              <a:t>інтерфейс для створення сімейств пов'язаних об'єктів без зазначення їхніх конкретних класів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Рефакторинг: інтерфейс для всього сімейства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DungeonThemeFactory.java</a:t>
            </a:r>
            <a:endParaRPr lang="en-US" sz="1200" dirty="0"/>
          </a:p>
        </p:txBody>
      </p:sp>
      <p:sp>
        <p:nvSpPr>
          <p:cNvPr id="5" name="code panel"/>
          <p:cNvSpPr/>
          <p:nvPr/>
        </p:nvSpPr>
        <p:spPr>
          <a:xfrm>
            <a:off x="548640" y="1591056"/>
            <a:ext cx="7223760" cy="4081780"/>
          </a:xfrm>
          <a:prstGeom prst="roundRect">
            <a:avLst>
              <a:gd name="adj" fmla="val 1792"/>
            </a:avLst>
          </a:prstGeom>
          <a:solidFill>
            <a:schemeClr val="bg2"/>
          </a:solidFill>
          <a:ln/>
        </p:spPr>
      </p:sp>
      <p:sp>
        <p:nvSpPr>
          <p:cNvPr id="6" name="good line highlight"/>
          <p:cNvSpPr/>
          <p:nvPr/>
        </p:nvSpPr>
        <p:spPr>
          <a:xfrm>
            <a:off x="603504" y="1773936"/>
            <a:ext cx="7114032" cy="215900"/>
          </a:xfrm>
          <a:prstGeom prst="rect">
            <a:avLst/>
          </a:prstGeom>
          <a:solidFill>
            <a:schemeClr val="accent5">
              <a:alpha val="18000"/>
            </a:schemeClr>
          </a:solidFill>
          <a:ln/>
        </p:spPr>
      </p:sp>
      <p:sp>
        <p:nvSpPr>
          <p:cNvPr id="7" name="good line highlight"/>
          <p:cNvSpPr/>
          <p:nvPr/>
        </p:nvSpPr>
        <p:spPr>
          <a:xfrm>
            <a:off x="603504" y="1989836"/>
            <a:ext cx="7114032" cy="215900"/>
          </a:xfrm>
          <a:prstGeom prst="rect">
            <a:avLst/>
          </a:prstGeom>
          <a:solidFill>
            <a:schemeClr val="accent5">
              <a:alpha val="18000"/>
            </a:schemeClr>
          </a:solidFill>
          <a:ln/>
        </p:spPr>
      </p:sp>
      <p:sp>
        <p:nvSpPr>
          <p:cNvPr id="8" name="good line highlight"/>
          <p:cNvSpPr/>
          <p:nvPr/>
        </p:nvSpPr>
        <p:spPr>
          <a:xfrm>
            <a:off x="603504" y="2205736"/>
            <a:ext cx="7114032" cy="215900"/>
          </a:xfrm>
          <a:prstGeom prst="rect">
            <a:avLst/>
          </a:prstGeom>
          <a:solidFill>
            <a:schemeClr val="accent5">
              <a:alpha val="18000"/>
            </a:schemeClr>
          </a:solidFill>
          <a:ln/>
        </p:spPr>
      </p:sp>
      <p:sp>
        <p:nvSpPr>
          <p:cNvPr id="9" name="good line highlight"/>
          <p:cNvSpPr/>
          <p:nvPr/>
        </p:nvSpPr>
        <p:spPr>
          <a:xfrm>
            <a:off x="603504" y="2421636"/>
            <a:ext cx="7114032" cy="215900"/>
          </a:xfrm>
          <a:prstGeom prst="rect">
            <a:avLst/>
          </a:prstGeom>
          <a:solidFill>
            <a:schemeClr val="accent5">
              <a:alpha val="18000"/>
            </a:schemeClr>
          </a:solidFill>
          <a:ln/>
        </p:spPr>
      </p:sp>
      <p:sp>
        <p:nvSpPr>
          <p:cNvPr id="10" name="good line highlight"/>
          <p:cNvSpPr/>
          <p:nvPr/>
        </p:nvSpPr>
        <p:spPr>
          <a:xfrm>
            <a:off x="603504" y="5012436"/>
            <a:ext cx="7114032" cy="215900"/>
          </a:xfrm>
          <a:prstGeom prst="rect">
            <a:avLst/>
          </a:prstGeom>
          <a:solidFill>
            <a:schemeClr val="accent5">
              <a:alpha val="18000"/>
            </a:schemeClr>
          </a:solidFill>
          <a:ln/>
        </p:spPr>
      </p:sp>
      <p:sp>
        <p:nvSpPr>
          <p:cNvPr id="11" name="code"/>
          <p:cNvSpPr txBox="1"/>
          <p:nvPr/>
        </p:nvSpPr>
        <p:spPr>
          <a:xfrm>
            <a:off x="731520" y="1773936"/>
            <a:ext cx="6858000" cy="371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DungeonThemeFactory {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Wall createWall();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Monster createMonster();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Treasure createTreasure();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IceThemeFactory 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DungeonThemeFactory {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Wall createWall()         { 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IceWall(); }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Monster createMonster()   { 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IceGolem(); }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Treasure createTreasure() { 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FrostChest(); }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FireThemeFactory 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DungeonThemeFactory {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Wall createWall()         { 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LavaWall(); }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Monster createMonster()   { 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FireImp(); }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Treasure createTreasure() { 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EmberChest(); }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138160" y="16916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13816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732520" y="1664208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Сімейство описане явно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Інтерфейс із трьома методами — це і є «що йде разом»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138160" y="30632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13816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732520" y="3035808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Одна тема — один клас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Усі частини теми видно поруч, на трьох рядках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138160" y="44348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138160" y="4434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732520" y="4407408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EmberChest на місці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Помилку з FrostChest тут видно одразу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Один генератор для будь-якої теми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DungeonGenerator.java</a:t>
            </a:r>
            <a:endParaRPr lang="en-US" sz="1200" dirty="0"/>
          </a:p>
        </p:txBody>
      </p:sp>
      <p:sp>
        <p:nvSpPr>
          <p:cNvPr id="5" name="code panel"/>
          <p:cNvSpPr/>
          <p:nvPr/>
        </p:nvSpPr>
        <p:spPr>
          <a:xfrm>
            <a:off x="548640" y="1591056"/>
            <a:ext cx="6675120" cy="3649980"/>
          </a:xfrm>
          <a:prstGeom prst="roundRect">
            <a:avLst>
              <a:gd name="adj" fmla="val 2004"/>
            </a:avLst>
          </a:prstGeom>
          <a:solidFill>
            <a:schemeClr val="bg2"/>
          </a:solidFill>
          <a:ln/>
        </p:spPr>
      </p:sp>
      <p:sp>
        <p:nvSpPr>
          <p:cNvPr id="6" name="good line highlight"/>
          <p:cNvSpPr/>
          <p:nvPr/>
        </p:nvSpPr>
        <p:spPr>
          <a:xfrm>
            <a:off x="603504" y="3717036"/>
            <a:ext cx="6565392" cy="215900"/>
          </a:xfrm>
          <a:prstGeom prst="rect">
            <a:avLst/>
          </a:prstGeom>
          <a:solidFill>
            <a:schemeClr val="accent5">
              <a:alpha val="18000"/>
            </a:schemeClr>
          </a:solidFill>
          <a:ln/>
        </p:spPr>
      </p:sp>
      <p:sp>
        <p:nvSpPr>
          <p:cNvPr id="7" name="good line highlight"/>
          <p:cNvSpPr/>
          <p:nvPr/>
        </p:nvSpPr>
        <p:spPr>
          <a:xfrm>
            <a:off x="603504" y="3932936"/>
            <a:ext cx="6565392" cy="215900"/>
          </a:xfrm>
          <a:prstGeom prst="rect">
            <a:avLst/>
          </a:prstGeom>
          <a:solidFill>
            <a:schemeClr val="accent5">
              <a:alpha val="18000"/>
            </a:schemeClr>
          </a:solidFill>
          <a:ln/>
        </p:spPr>
      </p:sp>
      <p:sp>
        <p:nvSpPr>
          <p:cNvPr id="8" name="good line highlight"/>
          <p:cNvSpPr/>
          <p:nvPr/>
        </p:nvSpPr>
        <p:spPr>
          <a:xfrm>
            <a:off x="603504" y="4148836"/>
            <a:ext cx="6565392" cy="215900"/>
          </a:xfrm>
          <a:prstGeom prst="rect">
            <a:avLst/>
          </a:prstGeom>
          <a:solidFill>
            <a:schemeClr val="accent5">
              <a:alpha val="18000"/>
            </a:schemeClr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31520" y="1773936"/>
            <a:ext cx="6309360" cy="3284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DungeonGenerator {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DungeonThemeFactory factory;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DungeonGenerator(DungeonThemeFactory factory) {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.factory = factory;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}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Dungeon generate() {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Wall wall = factory.createWall();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Monster monster = factory.createMonster();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Treasure treasure = factory.createTreasure();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Dungeon(wall, monster, treasure);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}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543800" y="12801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AbstractFactoryDemo.java</a:t>
            </a:r>
            <a:endParaRPr lang="en-US" sz="1200" dirty="0"/>
          </a:p>
        </p:txBody>
      </p:sp>
      <p:sp>
        <p:nvSpPr>
          <p:cNvPr id="11" name="code panel"/>
          <p:cNvSpPr/>
          <p:nvPr/>
        </p:nvSpPr>
        <p:spPr>
          <a:xfrm>
            <a:off x="7543800" y="1591056"/>
            <a:ext cx="4069080" cy="1427480"/>
          </a:xfrm>
          <a:prstGeom prst="roundRect">
            <a:avLst>
              <a:gd name="adj" fmla="val 5125"/>
            </a:avLst>
          </a:prstGeom>
          <a:solidFill>
            <a:schemeClr val="bg2"/>
          </a:solidFill>
          <a:ln/>
        </p:spPr>
      </p:sp>
      <p:sp>
        <p:nvSpPr>
          <p:cNvPr id="12" name="code"/>
          <p:cNvSpPr txBox="1"/>
          <p:nvPr/>
        </p:nvSpPr>
        <p:spPr>
          <a:xfrm>
            <a:off x="7726680" y="1773936"/>
            <a:ext cx="3703320" cy="106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ice  = 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IceThemeFactory();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fire = </a:t>
            </a: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FireThemeFactory();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DungeonGenerator(ice).generate();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DungeonGenerator(fire).generate();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543800" y="3246120"/>
            <a:ext cx="40690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72400" y="3383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Жодного new для частин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Генератор знає лише інтерфейс — змішати теми неможливо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543800" y="480060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part of the Ice dungeon is Ice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part of the Fire dungeon is Fire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Abstract Factory: переваги та ціна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Асиметрія розширення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Wall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2606040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Monster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794760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Treasure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983480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4"/>
                </a:solidFill>
              </a:rPr>
              <a:t>Trap?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28600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Ice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417320" y="2286000"/>
            <a:ext cx="1097280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11" name="Shape 8"/>
          <p:cNvSpPr/>
          <p:nvPr/>
        </p:nvSpPr>
        <p:spPr>
          <a:xfrm>
            <a:off x="2606040" y="2286000"/>
            <a:ext cx="1097280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12" name="Shape 9"/>
          <p:cNvSpPr/>
          <p:nvPr/>
        </p:nvSpPr>
        <p:spPr>
          <a:xfrm>
            <a:off x="3794760" y="2286000"/>
            <a:ext cx="1097280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13" name="Shape 10"/>
          <p:cNvSpPr/>
          <p:nvPr/>
        </p:nvSpPr>
        <p:spPr>
          <a:xfrm>
            <a:off x="4983480" y="2286000"/>
            <a:ext cx="1097280" cy="566928"/>
          </a:xfrm>
          <a:prstGeom prst="roundRect">
            <a:avLst>
              <a:gd name="adj" fmla="val 9677"/>
            </a:avLst>
          </a:prstGeom>
          <a:solidFill>
            <a:schemeClr val="accent4">
              <a:alpha val="30000"/>
            </a:schemeClr>
          </a:solidFill>
          <a:ln w="15875">
            <a:solidFill>
              <a:schemeClr val="accent4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548640" y="294436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Fire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417320" y="2944368"/>
            <a:ext cx="1097280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16" name="Shape 13"/>
          <p:cNvSpPr/>
          <p:nvPr/>
        </p:nvSpPr>
        <p:spPr>
          <a:xfrm>
            <a:off x="2606040" y="2944368"/>
            <a:ext cx="1097280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17" name="Shape 14"/>
          <p:cNvSpPr/>
          <p:nvPr/>
        </p:nvSpPr>
        <p:spPr>
          <a:xfrm>
            <a:off x="3794760" y="2944368"/>
            <a:ext cx="1097280" cy="566928"/>
          </a:xfrm>
          <a:prstGeom prst="roundRect">
            <a:avLst>
              <a:gd name="adj" fmla="val 9677"/>
            </a:avLst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18" name="Shape 15"/>
          <p:cNvSpPr/>
          <p:nvPr/>
        </p:nvSpPr>
        <p:spPr>
          <a:xfrm>
            <a:off x="4983480" y="2944368"/>
            <a:ext cx="1097280" cy="566928"/>
          </a:xfrm>
          <a:prstGeom prst="roundRect">
            <a:avLst>
              <a:gd name="adj" fmla="val 9677"/>
            </a:avLst>
          </a:prstGeom>
          <a:solidFill>
            <a:schemeClr val="accent4">
              <a:alpha val="30000"/>
            </a:schemeClr>
          </a:solidFill>
          <a:ln w="15875">
            <a:solidFill>
              <a:schemeClr val="accent4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548640" y="360273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Swamp?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417320" y="3602736"/>
            <a:ext cx="1097280" cy="566928"/>
          </a:xfrm>
          <a:prstGeom prst="roundRect">
            <a:avLst>
              <a:gd name="adj" fmla="val 9677"/>
            </a:avLst>
          </a:prstGeom>
          <a:solidFill>
            <a:schemeClr val="accent5">
              <a:alpha val="30000"/>
            </a:schemeClr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2606040" y="3602736"/>
            <a:ext cx="1097280" cy="566928"/>
          </a:xfrm>
          <a:prstGeom prst="roundRect">
            <a:avLst>
              <a:gd name="adj" fmla="val 9677"/>
            </a:avLst>
          </a:prstGeom>
          <a:solidFill>
            <a:schemeClr val="accent5">
              <a:alpha val="30000"/>
            </a:schemeClr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3794760" y="3602736"/>
            <a:ext cx="1097280" cy="566928"/>
          </a:xfrm>
          <a:prstGeom prst="roundRect">
            <a:avLst>
              <a:gd name="adj" fmla="val 9677"/>
            </a:avLst>
          </a:prstGeom>
          <a:solidFill>
            <a:schemeClr val="accent5">
              <a:alpha val="30000"/>
            </a:schemeClr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4983480" y="3602736"/>
            <a:ext cx="1097280" cy="566928"/>
          </a:xfrm>
          <a:prstGeom prst="roundRect">
            <a:avLst>
              <a:gd name="adj" fmla="val 9677"/>
            </a:avLst>
          </a:prstGeom>
          <a:solidFill>
            <a:schemeClr val="accent4">
              <a:alpha val="30000"/>
            </a:schemeClr>
          </a:solidFill>
          <a:ln w="15875">
            <a:solidFill>
              <a:schemeClr val="accent4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548640" y="42062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Нова тема (рядок)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один новий клас-фабрика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3291840" y="42062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Новий продукт (стовпчик)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змінити інтерфейс і ВСІ фабрики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355080" y="1417320"/>
            <a:ext cx="525780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629400" y="1600200"/>
            <a:ext cx="4800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000" b="1" dirty="0">
                <a:solidFill>
                  <a:schemeClr val="accent5"/>
                </a:solidFill>
              </a:rPr>
              <a:t>Переваги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Продукти гарантовано сумісні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Нова тема — без змін у клієнті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Клієнт залежить від інтерфейсів (DIP)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Фабрику легко підмінити (тести, конфіг)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000" b="1" dirty="0">
                <a:solidFill>
                  <a:schemeClr val="accent4"/>
                </a:solidFill>
              </a:rPr>
              <a:t>Ціна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Новий тип продукту зачіпає всі фабрики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Більше інтерфейсів і класів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2960" y="51206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У JDK: </a:t>
            </a: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DocumentBuilderFactory</a:t>
            </a:r>
            <a:r>
              <a:rPr lang="en-US" sz="1600" dirty="0">
                <a:solidFill>
                  <a:schemeClr val="tx1"/>
                </a:solidFill>
              </a:rPr>
              <a:t>,  </a:t>
            </a: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java.sql.Connection</a:t>
            </a:r>
            <a:r>
              <a:rPr lang="en-US" sz="1600" dirty="0">
                <a:solidFill>
                  <a:schemeClr val="tx1"/>
                </a:solidFill>
              </a:rPr>
              <a:t>,  Swing LookAndFeel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Factory Method чи Abstract Factory?</a:t>
            </a:r>
            <a:endParaRPr lang="en-US" sz="3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38404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Factory Method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8A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Abstract Factory</a:t>
                      </a:r>
                      <a:endParaRPr lang="en-US" sz="18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4B3F72"/>
                          </a:solidFill>
                        </a:rPr>
                        <a:t>Механізм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1B2E"/>
                          </a:solidFill>
                        </a:rPr>
                        <a:t>Спадкування: підклас перевизначає метод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1B2E"/>
                          </a:solidFill>
                        </a:rPr>
                        <a:t>Композиція: клієнт отримує об'єкт-фабрику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4B3F72"/>
                          </a:solidFill>
                        </a:rPr>
                        <a:t>Що створює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1B2E"/>
                          </a:solidFill>
                        </a:rPr>
                        <a:t>Один продукт (Enemy)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1B2E"/>
                          </a:solidFill>
                        </a:rPr>
                        <a:t>Сімейство продуктів (Wall + Monster + Treasure)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4B3F72"/>
                          </a:solidFill>
                        </a:rPr>
                        <a:t>Розширення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1B2E"/>
                          </a:solidFill>
                        </a:rPr>
                        <a:t>Новий підклас Creator (SwampLevel)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1B2E"/>
                          </a:solidFill>
                        </a:rPr>
                        <a:t>Нова реалізація фабрики (SwampThemeFactory)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4B3F72"/>
                          </a:solidFill>
                        </a:rPr>
                        <a:t>Клієнт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1B2E"/>
                          </a:solidFill>
                        </a:rPr>
                        <a:t>Сам є Creator — extends DungeonLevel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1B2E"/>
                          </a:solidFill>
                        </a:rPr>
                        <a:t>Тримає DungeonThemeFactory і делегує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4B3F72"/>
                          </a:solidFill>
                        </a:rPr>
                        <a:t>Коли обирати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1B2E"/>
                          </a:solidFill>
                        </a:rPr>
                        <a:t>Базовий алгоритм + варіація одного кроку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1B2E"/>
                          </a:solidFill>
                        </a:rPr>
                        <a:t>Кілька об'єктів, що мають бути сумісні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5440680"/>
            <a:ext cx="1106424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777240" y="54406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tx2"/>
                </a:solidFill>
              </a:rPr>
              <a:t>Методи абстрактної фабрики часто реалізують як фабричні методи — патерни доповнюють один одного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74320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tx1"/>
                </a:solidFill>
              </a:rPr>
              <a:t>Builder</a:t>
            </a: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84048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Будівельник: складний об'єкт збирається крок за кроком і перевіряється перед створенням</a:t>
            </a:r>
            <a:endParaRPr lang="en-US" sz="2000" dirty="0"/>
          </a:p>
        </p:txBody>
      </p:sp>
      <p:sp>
        <p:nvSpPr>
          <p:cNvPr id="5" name="section circle"/>
          <p:cNvSpPr/>
          <p:nvPr/>
        </p:nvSpPr>
        <p:spPr>
          <a:xfrm>
            <a:off x="8001000" y="1325880"/>
            <a:ext cx="3566160" cy="35661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Build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057400"/>
            <a:ext cx="2103120" cy="2103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Сценарій: редактор персонажа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3931920" cy="452628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4B3F72">
                <a:alpha val="12000"/>
              </a:srgbClr>
            </a:outerShdw>
          </a:effectLst>
        </p:spPr>
      </p:sp>
      <p:sp>
        <p:nvSpPr>
          <p:cNvPr id="5" name="GiWizardStaff circle"/>
          <p:cNvSpPr/>
          <p:nvPr/>
        </p:nvSpPr>
        <p:spPr>
          <a:xfrm>
            <a:off x="1783080" y="1645920"/>
            <a:ext cx="1463040" cy="14630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GiWizardSta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688" y="1938528"/>
            <a:ext cx="877824" cy="87782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2461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Aria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3749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2"/>
                </a:solidFill>
              </a:rPr>
              <a:t>the MAGE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42976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HP 80 · mana 150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 5 · Fire Staff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Cloth · Owl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Обов'язкові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4846320" y="1783080"/>
            <a:ext cx="32918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074920" y="17830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"Aria"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275320" y="1783080"/>
            <a:ext cx="32918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503920" y="17830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heroClass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MAGE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846320" y="27889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Необов'язкові — зі значеннями за замовчуванням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4846320" y="3200400"/>
            <a:ext cx="214884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</p:sp>
      <p:sp>
        <p:nvSpPr>
          <p:cNvPr id="17" name="Text 13"/>
          <p:cNvSpPr txBox="1"/>
          <p:nvPr/>
        </p:nvSpPr>
        <p:spPr>
          <a:xfrm>
            <a:off x="5029200" y="32004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hp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100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7132320" y="3200400"/>
            <a:ext cx="214884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</p:sp>
      <p:sp>
        <p:nvSpPr>
          <p:cNvPr id="19" name="Text 15"/>
          <p:cNvSpPr txBox="1"/>
          <p:nvPr/>
        </p:nvSpPr>
        <p:spPr>
          <a:xfrm>
            <a:off x="7315200" y="32004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0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9418320" y="3200400"/>
            <a:ext cx="214884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</p:sp>
      <p:sp>
        <p:nvSpPr>
          <p:cNvPr id="21" name="Text 17"/>
          <p:cNvSpPr txBox="1"/>
          <p:nvPr/>
        </p:nvSpPr>
        <p:spPr>
          <a:xfrm>
            <a:off x="9601200" y="32004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strength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10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4846320" y="4114800"/>
            <a:ext cx="214884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</p:sp>
      <p:sp>
        <p:nvSpPr>
          <p:cNvPr id="23" name="Text 19"/>
          <p:cNvSpPr txBox="1"/>
          <p:nvPr/>
        </p:nvSpPr>
        <p:spPr>
          <a:xfrm>
            <a:off x="5029200" y="41148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weapon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"Fists"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7132320" y="4114800"/>
            <a:ext cx="214884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</p:sp>
      <p:sp>
        <p:nvSpPr>
          <p:cNvPr id="25" name="Text 21"/>
          <p:cNvSpPr txBox="1"/>
          <p:nvPr/>
        </p:nvSpPr>
        <p:spPr>
          <a:xfrm>
            <a:off x="7315200" y="41148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armor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"Cloth"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9418320" y="4114800"/>
            <a:ext cx="214884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</p:sp>
      <p:sp>
        <p:nvSpPr>
          <p:cNvPr id="27" name="Text 23"/>
          <p:cNvSpPr txBox="1"/>
          <p:nvPr/>
        </p:nvSpPr>
        <p:spPr>
          <a:xfrm>
            <a:off x="9601200" y="41148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pet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"none"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4846320" y="5166360"/>
            <a:ext cx="676656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5074920" y="51663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Правила: </a:t>
            </a:r>
            <a:r>
              <a:rPr lang="en-US" sz="1700" dirty="0">
                <a:solidFill>
                  <a:schemeClr val="tx1"/>
                </a:solidFill>
              </a:rPr>
              <a:t>HP &gt; 0;  маг потребує mana &gt; 0</a:t>
            </a:r>
            <a:endParaRPr lang="en-US" sz="17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«Запах»: конструктор із 8 позиційними параметрами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4173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Hero(</a:t>
            </a:r>
            <a:r>
              <a:rPr lang="en-US" sz="19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"Aria"</a:t>
            </a: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HeroClass.MAGE, </a:t>
            </a:r>
            <a:r>
              <a:rPr lang="en-US" sz="19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150, 80, 5</a:t>
            </a: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9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"Fire Staff"</a:t>
            </a: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9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9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"Owl"</a:t>
            </a: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128016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2697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"Aria"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154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name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938528" y="2606040"/>
            <a:ext cx="128016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938528" y="2697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938528" y="3154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class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328416" y="2606040"/>
            <a:ext cx="1280160" cy="1143000"/>
          </a:xfrm>
          <a:prstGeom prst="roundRect">
            <a:avLst>
              <a:gd name="adj" fmla="val 9600"/>
            </a:avLst>
          </a:prstGeom>
          <a:solidFill>
            <a:schemeClr val="accent4">
              <a:alpha val="16000"/>
            </a:schemeClr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28416" y="2697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328416" y="3154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chemeClr val="accent4"/>
                </a:solidFill>
              </a:rPr>
              <a:t>hp? mana?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718304" y="2606040"/>
            <a:ext cx="1280160" cy="1143000"/>
          </a:xfrm>
          <a:prstGeom prst="roundRect">
            <a:avLst>
              <a:gd name="adj" fmla="val 9600"/>
            </a:avLst>
          </a:prstGeom>
          <a:solidFill>
            <a:schemeClr val="accent4">
              <a:alpha val="16000"/>
            </a:schemeClr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18304" y="2697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718304" y="3154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chemeClr val="accent4"/>
                </a:solidFill>
              </a:rPr>
              <a:t>mana? hp?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108192" y="2606040"/>
            <a:ext cx="1280160" cy="1143000"/>
          </a:xfrm>
          <a:prstGeom prst="roundRect">
            <a:avLst>
              <a:gd name="adj" fmla="val 9600"/>
            </a:avLst>
          </a:prstGeom>
          <a:solidFill>
            <a:schemeClr val="accent4">
              <a:alpha val="16000"/>
            </a:schemeClr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08192" y="2697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108192" y="3154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chemeClr val="accent4"/>
                </a:solidFill>
              </a:rPr>
              <a:t>strength?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498080" y="2606040"/>
            <a:ext cx="128016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498080" y="2697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"Fire Staff"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498080" y="3154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weapon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887968" y="2606040"/>
            <a:ext cx="1280160" cy="1143000"/>
          </a:xfrm>
          <a:prstGeom prst="roundRect">
            <a:avLst>
              <a:gd name="adj" fmla="val 9600"/>
            </a:avLst>
          </a:prstGeom>
          <a:solidFill>
            <a:schemeClr val="accent4">
              <a:alpha val="16000"/>
            </a:schemeClr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887968" y="2697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887968" y="3154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chemeClr val="accent4"/>
                </a:solidFill>
              </a:rPr>
              <a:t>armor?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10277856" y="2606040"/>
            <a:ext cx="128016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10277856" y="2697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"Owl"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0277856" y="3154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2"/>
                </a:solidFill>
              </a:rPr>
              <a:t>pet</a:t>
            </a:r>
            <a:endParaRPr lang="en-US" sz="1300" dirty="0"/>
          </a:p>
        </p:txBody>
      </p:sp>
      <p:sp>
        <p:nvSpPr>
          <p:cNvPr id="30" name="GiPuzzle circle"/>
          <p:cNvSpPr/>
          <p:nvPr/>
        </p:nvSpPr>
        <p:spPr>
          <a:xfrm>
            <a:off x="548640" y="411480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1" name="Image 0" descr="GiPuzz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4242816"/>
            <a:ext cx="384048" cy="384048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325880" y="40690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Однотипні параметри поспіль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3 int і 3 String: переставте два — і код компілюється</a:t>
            </a:r>
            <a:endParaRPr lang="en-US" sz="1600" dirty="0"/>
          </a:p>
        </p:txBody>
      </p:sp>
      <p:sp>
        <p:nvSpPr>
          <p:cNvPr id="33" name="GiHelp circle"/>
          <p:cNvSpPr/>
          <p:nvPr/>
        </p:nvSpPr>
        <p:spPr>
          <a:xfrm>
            <a:off x="4297680" y="411480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4" name="Image 1" descr="GiHel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696" y="4242816"/>
            <a:ext cx="384048" cy="384048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5074920" y="40690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null для необов'язкових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Що означає цей null? Треба відкривати Hero.java</a:t>
            </a:r>
            <a:endParaRPr lang="en-US" sz="1600" dirty="0"/>
          </a:p>
        </p:txBody>
      </p:sp>
      <p:sp>
        <p:nvSpPr>
          <p:cNvPr id="36" name="GiCrossMark circle"/>
          <p:cNvSpPr/>
          <p:nvPr/>
        </p:nvSpPr>
        <p:spPr>
          <a:xfrm>
            <a:off x="8046720" y="411480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7" name="Image 2" descr="GiCrossMar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4242816"/>
            <a:ext cx="384048" cy="384048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8823960" y="40690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Немає місця для перевірки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Герой створюється раніше, ніж його можна валідувати</a:t>
            </a:r>
            <a:endParaRPr lang="en-US" sz="1600" dirty="0"/>
          </a:p>
        </p:txBody>
      </p:sp>
      <p:sp>
        <p:nvSpPr>
          <p:cNvPr id="39" name="Text 33"/>
          <p:cNvSpPr txBox="1"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Антипатерн «телескопічний конструктор»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Наслідки в демо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66160" cy="45262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5" name="GiWizardStaff circle"/>
          <p:cNvSpPr/>
          <p:nvPr/>
        </p:nvSpPr>
        <p:spPr>
          <a:xfrm>
            <a:off x="868680" y="1783080"/>
            <a:ext cx="914400" cy="9144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mage 0" descr="GiWizardSta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96596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88920" y="2011680"/>
            <a:ext cx="1005840" cy="38404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2788920" y="20116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[FAIL]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2880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Aria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777240" y="3474720"/>
            <a:ext cx="3108960" cy="12801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914400" y="35661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Hero("Aria", MAGE, 150, 80, …)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4937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Отримала 150 HP і 80 мани — числа переставлені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297680" y="1463040"/>
            <a:ext cx="3566160" cy="45262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4" name="GiBattleAxe circle"/>
          <p:cNvSpPr/>
          <p:nvPr/>
        </p:nvSpPr>
        <p:spPr>
          <a:xfrm>
            <a:off x="4617720" y="178308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1" descr="GiBattleAx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965960"/>
            <a:ext cx="548640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537960" y="2011680"/>
            <a:ext cx="100584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6537960" y="20116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[WARN]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4617720" y="2880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Borin</a:t>
            </a:r>
            <a:endParaRPr lang="en-US" sz="2400" dirty="0"/>
          </a:p>
        </p:txBody>
      </p:sp>
      <p:sp>
        <p:nvSpPr>
          <p:cNvPr id="19" name="Shape 14"/>
          <p:cNvSpPr/>
          <p:nvPr/>
        </p:nvSpPr>
        <p:spPr>
          <a:xfrm>
            <a:off x="4526280" y="3474720"/>
            <a:ext cx="3108960" cy="12801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4663440" y="35661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Hero("Borin", WARRIOR, 200, 0, 18, "Battle Axe", "Plate Armor", null)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4617720" y="4937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Яке число що означає? Що це за null?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8046720" y="1463040"/>
            <a:ext cx="3566160" cy="45262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23" name="GiWizardStaff circle"/>
          <p:cNvSpPr/>
          <p:nvPr/>
        </p:nvSpPr>
        <p:spPr>
          <a:xfrm>
            <a:off x="8366760" y="1783080"/>
            <a:ext cx="914400" cy="9144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4" name="Image 2" descr="GiWizardSta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965960"/>
            <a:ext cx="548640" cy="54864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10287000" y="2011680"/>
            <a:ext cx="1005840" cy="38404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10287000" y="20116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[FAIL]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8366760" y="2880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Nox</a:t>
            </a:r>
            <a:endParaRPr lang="en-US" sz="2400" dirty="0"/>
          </a:p>
        </p:txBody>
      </p:sp>
      <p:sp>
        <p:nvSpPr>
          <p:cNvPr id="28" name="Shape 22"/>
          <p:cNvSpPr/>
          <p:nvPr/>
        </p:nvSpPr>
        <p:spPr>
          <a:xfrm>
            <a:off x="8275320" y="3474720"/>
            <a:ext cx="3108960" cy="12801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8412480" y="35661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Hero("Nox", MAGE, 60, 0, 4, "Wand", null, null)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8366760" y="4937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Маг із 0 мани створений без жодної перевірки</a:t>
            </a:r>
            <a:endParaRPr lang="en-US" sz="15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Рефакторинг: іменовані кроки замість позицій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BuilderDemo.java</a:t>
            </a:r>
            <a:endParaRPr lang="en-US" sz="1200" dirty="0"/>
          </a:p>
        </p:txBody>
      </p:sp>
      <p:sp>
        <p:nvSpPr>
          <p:cNvPr id="5" name="code panel"/>
          <p:cNvSpPr/>
          <p:nvPr/>
        </p:nvSpPr>
        <p:spPr>
          <a:xfrm>
            <a:off x="548640" y="1591056"/>
            <a:ext cx="5394960" cy="1833880"/>
          </a:xfrm>
          <a:prstGeom prst="roundRect">
            <a:avLst>
              <a:gd name="adj" fmla="val 3989"/>
            </a:avLst>
          </a:prstGeom>
          <a:solidFill>
            <a:schemeClr val="bg2"/>
          </a:solidFill>
          <a:ln/>
        </p:spPr>
      </p:sp>
      <p:sp>
        <p:nvSpPr>
          <p:cNvPr id="6" name="good line highlight"/>
          <p:cNvSpPr/>
          <p:nvPr/>
        </p:nvSpPr>
        <p:spPr>
          <a:xfrm>
            <a:off x="603504" y="1977136"/>
            <a:ext cx="5285232" cy="203200"/>
          </a:xfrm>
          <a:prstGeom prst="rect">
            <a:avLst/>
          </a:prstGeom>
          <a:solidFill>
            <a:schemeClr val="accent5">
              <a:alpha val="18000"/>
            </a:schemeClr>
          </a:solidFill>
          <a:ln/>
        </p:spPr>
      </p:sp>
      <p:sp>
        <p:nvSpPr>
          <p:cNvPr id="7" name="good line highlight"/>
          <p:cNvSpPr/>
          <p:nvPr/>
        </p:nvSpPr>
        <p:spPr>
          <a:xfrm>
            <a:off x="603504" y="2180336"/>
            <a:ext cx="5285232" cy="203200"/>
          </a:xfrm>
          <a:prstGeom prst="rect">
            <a:avLst/>
          </a:prstGeom>
          <a:solidFill>
            <a:schemeClr val="accent5">
              <a:alpha val="18000"/>
            </a:schemeClr>
          </a:solidFill>
          <a:ln/>
        </p:spPr>
      </p:sp>
      <p:sp>
        <p:nvSpPr>
          <p:cNvPr id="8" name="code"/>
          <p:cNvSpPr txBox="1"/>
          <p:nvPr/>
        </p:nvSpPr>
        <p:spPr>
          <a:xfrm>
            <a:off x="731520" y="1773936"/>
            <a:ext cx="5029200" cy="146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 aria = Hero.builder(</a:t>
            </a: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"Aria"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HeroClass.MAGE)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.hp(</a:t>
            </a: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.mana(</a:t>
            </a: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.strength(</a:t>
            </a: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.weapon(</a:t>
            </a: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"Fire Staff"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.pet(</a:t>
            </a: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"Owl"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.build();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12801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</p:txBody>
      </p:sp>
      <p:sp>
        <p:nvSpPr>
          <p:cNvPr id="10" name="code panel"/>
          <p:cNvSpPr/>
          <p:nvPr/>
        </p:nvSpPr>
        <p:spPr>
          <a:xfrm>
            <a:off x="6217920" y="1591056"/>
            <a:ext cx="5394960" cy="1630680"/>
          </a:xfrm>
          <a:prstGeom prst="roundRect">
            <a:avLst>
              <a:gd name="adj" fmla="val 4486"/>
            </a:avLst>
          </a:prstGeom>
          <a:solidFill>
            <a:schemeClr val="bg2"/>
          </a:solidFill>
          <a:ln/>
        </p:spPr>
      </p:sp>
      <p:sp>
        <p:nvSpPr>
          <p:cNvPr id="11" name="code"/>
          <p:cNvSpPr txBox="1"/>
          <p:nvPr/>
        </p:nvSpPr>
        <p:spPr>
          <a:xfrm>
            <a:off x="6400800" y="1773936"/>
            <a:ext cx="502920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 borin = Hero.builder(</a:t>
            </a: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"Borin"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HeroClass.WARRIOR)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.hp(</a:t>
            </a: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.strength(</a:t>
            </a: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.weapon(</a:t>
            </a: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"Battle Axe"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.armor(</a:t>
            </a: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"Plate Armor"</a:t>
            </a: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.build();</a:t>
            </a:r>
            <a:endParaRPr lang="en-US" sz="1200" dirty="0"/>
          </a:p>
        </p:txBody>
      </p:sp>
      <p:sp>
        <p:nvSpPr>
          <p:cNvPr id="12" name="GiCheckMark circle"/>
          <p:cNvSpPr/>
          <p:nvPr/>
        </p:nvSpPr>
        <p:spPr>
          <a:xfrm>
            <a:off x="548640" y="423367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0" descr="GiCheck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334256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34440" y="4160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builder(name, class)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обов'язкове — одразу, не забудеш</a:t>
            </a:r>
            <a:endParaRPr lang="en-US" sz="1600" dirty="0"/>
          </a:p>
        </p:txBody>
      </p:sp>
      <p:sp>
        <p:nvSpPr>
          <p:cNvPr id="15" name="GiCheckMark circle"/>
          <p:cNvSpPr/>
          <p:nvPr/>
        </p:nvSpPr>
        <p:spPr>
          <a:xfrm>
            <a:off x="6217920" y="423367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mage 1" descr="GiCheck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4334256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03720" y="4160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.hp(80).mana(150)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кожне значення має ім'я — не переплутаєш</a:t>
            </a:r>
            <a:endParaRPr lang="en-US" sz="1600" dirty="0"/>
          </a:p>
        </p:txBody>
      </p:sp>
      <p:sp>
        <p:nvSpPr>
          <p:cNvPr id="18" name="GiCheckMark circle"/>
          <p:cNvSpPr/>
          <p:nvPr/>
        </p:nvSpPr>
        <p:spPr>
          <a:xfrm>
            <a:off x="548640" y="514807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Image 2" descr="GiCheck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5248656"/>
            <a:ext cx="301752" cy="30175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34440" y="50749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немає .mana() / .pet()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необов'язкове просто не згадуємо — жодних null</a:t>
            </a:r>
            <a:endParaRPr lang="en-US" sz="1600" dirty="0"/>
          </a:p>
        </p:txBody>
      </p:sp>
      <p:sp>
        <p:nvSpPr>
          <p:cNvPr id="21" name="GiCheckMark circle"/>
          <p:cNvSpPr/>
          <p:nvPr/>
        </p:nvSpPr>
        <p:spPr>
          <a:xfrm>
            <a:off x="6217920" y="5148072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mage 3" descr="GiCheck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5248656"/>
            <a:ext cx="301752" cy="30175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903720" y="50749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.build()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перевіряє правила і створює героя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Як влаштований Hero.Builder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Hero.java  (скорочено)</a:t>
            </a:r>
            <a:endParaRPr lang="en-US" sz="1200" dirty="0"/>
          </a:p>
        </p:txBody>
      </p:sp>
      <p:sp>
        <p:nvSpPr>
          <p:cNvPr id="5" name="code panel"/>
          <p:cNvSpPr/>
          <p:nvPr/>
        </p:nvSpPr>
        <p:spPr>
          <a:xfrm>
            <a:off x="548640" y="1499616"/>
            <a:ext cx="7223760" cy="4856480"/>
          </a:xfrm>
          <a:prstGeom prst="roundRect">
            <a:avLst>
              <a:gd name="adj" fmla="val 1506"/>
            </a:avLst>
          </a:prstGeom>
          <a:solidFill>
            <a:schemeClr val="bg2"/>
          </a:solidFill>
          <a:ln/>
        </p:spPr>
      </p:sp>
      <p:sp>
        <p:nvSpPr>
          <p:cNvPr id="6" name="good line highlight"/>
          <p:cNvSpPr/>
          <p:nvPr/>
        </p:nvSpPr>
        <p:spPr>
          <a:xfrm>
            <a:off x="603504" y="2038096"/>
            <a:ext cx="7114032" cy="177800"/>
          </a:xfrm>
          <a:prstGeom prst="rect">
            <a:avLst/>
          </a:prstGeom>
          <a:solidFill>
            <a:schemeClr val="accent5">
              <a:alpha val="18000"/>
            </a:schemeClr>
          </a:solidFill>
          <a:ln/>
        </p:spPr>
      </p:sp>
      <p:sp>
        <p:nvSpPr>
          <p:cNvPr id="7" name="good line highlight"/>
          <p:cNvSpPr/>
          <p:nvPr/>
        </p:nvSpPr>
        <p:spPr>
          <a:xfrm>
            <a:off x="603504" y="3638296"/>
            <a:ext cx="7114032" cy="177800"/>
          </a:xfrm>
          <a:prstGeom prst="rect">
            <a:avLst/>
          </a:prstGeom>
          <a:solidFill>
            <a:schemeClr val="accent5">
              <a:alpha val="18000"/>
            </a:schemeClr>
          </a:solidFill>
          <a:ln/>
        </p:spPr>
      </p:sp>
      <p:sp>
        <p:nvSpPr>
          <p:cNvPr id="8" name="good line highlight"/>
          <p:cNvSpPr/>
          <p:nvPr/>
        </p:nvSpPr>
        <p:spPr>
          <a:xfrm>
            <a:off x="603504" y="3816096"/>
            <a:ext cx="7114032" cy="177800"/>
          </a:xfrm>
          <a:prstGeom prst="rect">
            <a:avLst/>
          </a:prstGeom>
          <a:solidFill>
            <a:schemeClr val="accent5">
              <a:alpha val="18000"/>
            </a:schemeClr>
          </a:solidFill>
          <a:ln/>
        </p:spPr>
      </p:sp>
      <p:sp>
        <p:nvSpPr>
          <p:cNvPr id="9" name="good line highlight"/>
          <p:cNvSpPr/>
          <p:nvPr/>
        </p:nvSpPr>
        <p:spPr>
          <a:xfrm>
            <a:off x="603504" y="4705096"/>
            <a:ext cx="7114032" cy="177800"/>
          </a:xfrm>
          <a:prstGeom prst="rect">
            <a:avLst/>
          </a:prstGeom>
          <a:solidFill>
            <a:schemeClr val="accent5">
              <a:alpha val="18000"/>
            </a:schemeClr>
          </a:solidFill>
          <a:ln/>
        </p:spPr>
      </p:sp>
      <p:sp>
        <p:nvSpPr>
          <p:cNvPr id="10" name="good line highlight"/>
          <p:cNvSpPr/>
          <p:nvPr/>
        </p:nvSpPr>
        <p:spPr>
          <a:xfrm>
            <a:off x="603504" y="4882896"/>
            <a:ext cx="7114032" cy="177800"/>
          </a:xfrm>
          <a:prstGeom prst="rect">
            <a:avLst/>
          </a:prstGeom>
          <a:solidFill>
            <a:schemeClr val="accent5">
              <a:alpha val="18000"/>
            </a:schemeClr>
          </a:solidFill>
          <a:ln/>
        </p:spPr>
      </p:sp>
      <p:sp>
        <p:nvSpPr>
          <p:cNvPr id="11" name="good line highlight"/>
          <p:cNvSpPr/>
          <p:nvPr/>
        </p:nvSpPr>
        <p:spPr>
          <a:xfrm>
            <a:off x="603504" y="5060696"/>
            <a:ext cx="7114032" cy="177800"/>
          </a:xfrm>
          <a:prstGeom prst="rect">
            <a:avLst/>
          </a:prstGeom>
          <a:solidFill>
            <a:schemeClr val="accent5">
              <a:alpha val="18000"/>
            </a:schemeClr>
          </a:solidFill>
          <a:ln/>
        </p:spPr>
      </p:sp>
      <p:sp>
        <p:nvSpPr>
          <p:cNvPr id="12" name="good line highlight"/>
          <p:cNvSpPr/>
          <p:nvPr/>
        </p:nvSpPr>
        <p:spPr>
          <a:xfrm>
            <a:off x="603504" y="5238496"/>
            <a:ext cx="7114032" cy="177800"/>
          </a:xfrm>
          <a:prstGeom prst="rect">
            <a:avLst/>
          </a:prstGeom>
          <a:solidFill>
            <a:schemeClr val="accent5">
              <a:alpha val="18000"/>
            </a:schemeClr>
          </a:solidFill>
          <a:ln/>
        </p:spPr>
      </p:sp>
      <p:sp>
        <p:nvSpPr>
          <p:cNvPr id="13" name="code"/>
          <p:cNvSpPr txBox="1"/>
          <p:nvPr/>
        </p:nvSpPr>
        <p:spPr>
          <a:xfrm>
            <a:off x="731520" y="1682496"/>
            <a:ext cx="6858000" cy="449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Hero {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String name;   </a:t>
            </a:r>
            <a:r>
              <a:rPr lang="en-US" sz="1150" i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усі поля final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Hero(Builder b) { 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.name = b.name; /* ... */ }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Builder builder(String name, HeroClass c) {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Builder(name, c);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}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Builder {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String name;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HeroClass heroClass;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hp = </a:t>
            </a:r>
            <a:r>
              <a:rPr lang="en-US" sz="11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mana = </a:t>
            </a:r>
            <a:r>
              <a:rPr lang="en-US" sz="11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String weapon = </a:t>
            </a:r>
            <a:r>
              <a:rPr lang="en-US" sz="11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"Fists"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Builder hp(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hp) { 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.hp = hp; 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Builder mana(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m) { 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.mana = m; 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Hero build() {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(hp &lt;= </a:t>
            </a:r>
            <a:r>
              <a:rPr lang="en-US" sz="11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IllegalStateException(</a:t>
            </a:r>
            <a:r>
              <a:rPr lang="en-US" sz="11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"HP &gt; 0"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(heroClass == HeroClass.MAGE &amp;&amp; mana &lt;= </a:t>
            </a:r>
            <a:r>
              <a:rPr lang="en-US" sz="11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IllegalStateException(</a:t>
            </a:r>
            <a:r>
              <a:rPr lang="en-US" sz="11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mage needs mana &gt; 0"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Hero(</a:t>
            </a: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}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}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92440" y="16002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09244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0" y="157276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Приватний конструктор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Будівельник — єдиний вхід, перевірки не обійти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092440" y="269748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09244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0" y="267004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Значення за замовчуванням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Прямо в полях Builder: hp = 100, weapon = "Fists"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092440" y="37947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09244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686800" y="376732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return this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Кожен крок повертає будівельник — ланцюжок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092440" y="489204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092440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686800" y="486460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build() валідує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Коректний Hero або виняток — і immutable продукт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Валідація в build(): некоректного героя не існує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600200"/>
            <a:ext cx="192024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16002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builder("Nox", MAGE)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468880" y="2011680"/>
            <a:ext cx="2286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arrow"/>
          </a:ln>
        </p:spPr>
      </p:sp>
      <p:sp>
        <p:nvSpPr>
          <p:cNvPr id="7" name="Shape 4"/>
          <p:cNvSpPr/>
          <p:nvPr/>
        </p:nvSpPr>
        <p:spPr>
          <a:xfrm>
            <a:off x="2697480" y="1600200"/>
            <a:ext cx="192024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697480" y="16002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.hp(60)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17720" y="2011680"/>
            <a:ext cx="2286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arrow"/>
          </a:ln>
        </p:spPr>
      </p:sp>
      <p:sp>
        <p:nvSpPr>
          <p:cNvPr id="10" name="Shape 7"/>
          <p:cNvSpPr/>
          <p:nvPr/>
        </p:nvSpPr>
        <p:spPr>
          <a:xfrm>
            <a:off x="4846320" y="1600200"/>
            <a:ext cx="1920240" cy="822960"/>
          </a:xfrm>
          <a:prstGeom prst="roundRect">
            <a:avLst>
              <a:gd name="adj" fmla="val 13333"/>
            </a:avLst>
          </a:prstGeom>
          <a:solidFill>
            <a:schemeClr val="accent4">
              <a:alpha val="16000"/>
            </a:schemeClr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46320" y="16002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.mana(0)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766560" y="2011680"/>
            <a:ext cx="2286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arrow"/>
          </a:ln>
        </p:spPr>
      </p:sp>
      <p:sp>
        <p:nvSpPr>
          <p:cNvPr id="13" name="Shape 10"/>
          <p:cNvSpPr/>
          <p:nvPr/>
        </p:nvSpPr>
        <p:spPr>
          <a:xfrm>
            <a:off x="6995160" y="1600200"/>
            <a:ext cx="192024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995160" y="16002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.weapon("Wand")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915400" y="2011680"/>
            <a:ext cx="2286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arrow"/>
          </a:ln>
        </p:spPr>
      </p:sp>
      <p:sp>
        <p:nvSpPr>
          <p:cNvPr id="16" name="Shape 13"/>
          <p:cNvSpPr/>
          <p:nvPr/>
        </p:nvSpPr>
        <p:spPr>
          <a:xfrm>
            <a:off x="9098280" y="1371600"/>
            <a:ext cx="1737360" cy="1280160"/>
          </a:xfrm>
          <a:prstGeom prst="diamond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098280" y="1371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build()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9966960" y="2651760"/>
            <a:ext cx="0" cy="5486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arrow"/>
          </a:ln>
        </p:spPr>
      </p:sp>
      <p:sp>
        <p:nvSpPr>
          <p:cNvPr id="19" name="Shape 16"/>
          <p:cNvSpPr/>
          <p:nvPr/>
        </p:nvSpPr>
        <p:spPr>
          <a:xfrm>
            <a:off x="7315200" y="3246120"/>
            <a:ext cx="4297680" cy="1325880"/>
          </a:xfrm>
          <a:prstGeom prst="roundRect">
            <a:avLst>
              <a:gd name="adj" fmla="val 8276"/>
            </a:avLst>
          </a:prstGeom>
          <a:solidFill>
            <a:schemeClr val="accent4">
              <a:alpha val="14000"/>
            </a:schemeClr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0" name="GiCrossMark circle"/>
          <p:cNvSpPr/>
          <p:nvPr/>
        </p:nvSpPr>
        <p:spPr>
          <a:xfrm>
            <a:off x="7543800" y="352044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mage 0" descr="GiCross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3675888"/>
            <a:ext cx="466344" cy="46634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503920" y="3383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IllegalStateException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Nox: a mage needs mana &gt; 0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48640" y="3246120"/>
            <a:ext cx="64922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822960" y="3337560"/>
            <a:ext cx="6035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Правило про комбінацію полів</a:t>
            </a:r>
            <a:endParaRPr lang="en-US" sz="1700" dirty="0"/>
          </a:p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«клас MAGE + mana &gt; 0» можна перевірити лише тоді, коли відомі всі значення — тобто в build()</a:t>
            </a:r>
            <a:endParaRPr lang="en-US" sz="1700" dirty="0"/>
          </a:p>
        </p:txBody>
      </p:sp>
      <p:sp>
        <p:nvSpPr>
          <p:cNvPr id="25" name="console panel"/>
          <p:cNvSpPr/>
          <p:nvPr/>
        </p:nvSpPr>
        <p:spPr>
          <a:xfrm>
            <a:off x="548640" y="4892040"/>
            <a:ext cx="11064240" cy="905256"/>
          </a:xfrm>
          <a:prstGeom prst="roundRect">
            <a:avLst>
              <a:gd name="adj" fmla="val 8081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749808" y="5093208"/>
            <a:ext cx="10661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  Character creator: Nox, a mage... someone typed 0 mana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build() refused: Nox: a mage needs mana &gt; 0 -- a broken hero never exists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Builder у GoF і fluent builder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440680" cy="4526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Класичний GoF Builder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tx2"/>
                </a:solidFill>
              </a:rPr>
              <a:t>Той самий процес — різні представлення</a:t>
            </a:r>
            <a:endParaRPr lang="en-US" sz="1500" dirty="0"/>
          </a:p>
        </p:txBody>
      </p:sp>
      <p:sp>
        <p:nvSpPr>
          <p:cNvPr id="7" name="uml Director"/>
          <p:cNvSpPr/>
          <p:nvPr/>
        </p:nvSpPr>
        <p:spPr>
          <a:xfrm>
            <a:off x="2148840" y="2606040"/>
            <a:ext cx="2240280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240280" y="26791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Director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68980" y="3154680"/>
            <a:ext cx="0" cy="32004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arrow"/>
          </a:ln>
        </p:spPr>
      </p:sp>
      <p:sp>
        <p:nvSpPr>
          <p:cNvPr id="10" name="uml «interface» HeroBuilder"/>
          <p:cNvSpPr/>
          <p:nvPr/>
        </p:nvSpPr>
        <p:spPr>
          <a:xfrm>
            <a:off x="1828800" y="3474720"/>
            <a:ext cx="2880360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20240" y="35478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«interface» HeroBuilder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268980" y="4023360"/>
            <a:ext cx="0" cy="27432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headEnd type="triangle"/>
          </a:ln>
        </p:spPr>
      </p:sp>
      <p:sp>
        <p:nvSpPr>
          <p:cNvPr id="13" name="Shape 10"/>
          <p:cNvSpPr/>
          <p:nvPr/>
        </p:nvSpPr>
        <p:spPr>
          <a:xfrm>
            <a:off x="1783080" y="4297680"/>
            <a:ext cx="297180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783080" y="4297680"/>
            <a:ext cx="0" cy="22860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5" name="uml HeroObjectBuilder"/>
          <p:cNvSpPr/>
          <p:nvPr/>
        </p:nvSpPr>
        <p:spPr>
          <a:xfrm>
            <a:off x="594360" y="4526280"/>
            <a:ext cx="2377440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45994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HeroObjectBuilder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94360" y="5020056"/>
            <a:ext cx="237744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5093208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Hero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754880" y="4297680"/>
            <a:ext cx="0" cy="22860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20" name="uml SaveFileBuilder"/>
          <p:cNvSpPr/>
          <p:nvPr/>
        </p:nvSpPr>
        <p:spPr>
          <a:xfrm>
            <a:off x="3566160" y="4526280"/>
            <a:ext cx="2377440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657600" y="45994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SaveFileBuilder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566160" y="5020056"/>
            <a:ext cx="237744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703320" y="5093208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JSON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5394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Director задає порядок кроків, ConcreteBuilder — результат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172200" y="1417320"/>
            <a:ext cx="5440680" cy="4526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44652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Fluent builder (наш Hero)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644652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tx2"/>
                </a:solidFill>
              </a:rPr>
              <a:t>Effective Java, Item 2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446520" y="265176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Заміна телескопічного конструктора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Змінний Builder → незмінний продукт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Іменовані кроки та значення за замовчуванням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Валідація в build()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Director не потрібен — порядок задає клієнт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Builder: переваги, ціна, приклади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3566160" cy="45262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5" name="GiCheckMark circle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Image 0" descr="GiCheck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77393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1645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Переваги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251460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Кожне значення має ім'я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Значення за замовчуванням без null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Незмінний продукт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Валідація в одному місці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315968" y="1417320"/>
            <a:ext cx="3566160" cy="45262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0" name="GiCrossMark circle"/>
          <p:cNvSpPr/>
          <p:nvPr/>
        </p:nvSpPr>
        <p:spPr>
          <a:xfrm>
            <a:off x="4590288" y="16459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Image 1" descr="GiCross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177393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13248" y="1645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Ціна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4636008" y="251460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Поля дублюються в Hero і Builder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Більше коду (Lombok @Builder допомагає)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Для 2–3 полів — надмірно: вистачить конструктора чи record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8083296" y="1417320"/>
            <a:ext cx="3529584" cy="4526280"/>
          </a:xfrm>
          <a:prstGeom prst="roundRect">
            <a:avLst>
              <a:gd name="adj" fmla="val 3109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8321040" y="1645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Ви вже це знаєте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8321040" y="25146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StringBuilder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HttpRequest.newBuilder()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Stream.builder()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Locale.Builder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ProcessBuilder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74320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tx1"/>
                </a:solidFill>
              </a:rPr>
              <a:t>Підсумки</a:t>
            </a: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84048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Три патерни — три різні питання про створення об'єктів</a:t>
            </a:r>
            <a:endParaRPr lang="en-US" sz="2000" dirty="0"/>
          </a:p>
        </p:txBody>
      </p:sp>
      <p:sp>
        <p:nvSpPr>
          <p:cNvPr id="5" name="section circle"/>
          <p:cNvSpPr/>
          <p:nvPr/>
        </p:nvSpPr>
        <p:spPr>
          <a:xfrm>
            <a:off x="8001000" y="1325880"/>
            <a:ext cx="3566160" cy="35661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Image 0" descr="Підсумки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057400"/>
            <a:ext cx="2103120" cy="2103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Три патерни — три питання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3566160" cy="4663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5" name="GiFactory circle"/>
          <p:cNvSpPr/>
          <p:nvPr/>
        </p:nvSpPr>
        <p:spPr>
          <a:xfrm>
            <a:off x="822960" y="164592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GiFacto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810512"/>
            <a:ext cx="493776" cy="4937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783080" y="1645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Factory Method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651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Який клас створити?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4747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Запах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switch за типом у місці створення, продубльований у кількох методах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47091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Рішення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Абстрактний createX(), перевизначений підкласом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297680" y="1371600"/>
            <a:ext cx="3566160" cy="4663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2" name="GiCastle circle"/>
          <p:cNvSpPr/>
          <p:nvPr/>
        </p:nvSpPr>
        <p:spPr>
          <a:xfrm>
            <a:off x="4572000" y="16459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GiCas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1810512"/>
            <a:ext cx="493776" cy="49377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532120" y="1645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Abstract Factory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0" y="2651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i="1" dirty="0">
                <a:solidFill>
                  <a:schemeClr val="accent1"/>
                </a:solidFill>
              </a:rPr>
              <a:t>Які об'єкти мають бути разом?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0" y="34747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Запах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Copy-paste набору new для кожної теми чи платформи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0" y="47091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Рішення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Об'єкт-фабрика на сімейство, клієнт знає лише інтерфейс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8046720" y="1371600"/>
            <a:ext cx="3566160" cy="4663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9" name="GiAnvil circle"/>
          <p:cNvSpPr/>
          <p:nvPr/>
        </p:nvSpPr>
        <p:spPr>
          <a:xfrm>
            <a:off x="8321040" y="164592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mage 2" descr="GiAnvi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1810512"/>
            <a:ext cx="493776" cy="49377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81160" y="1645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Builder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8321040" y="2651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i="1" dirty="0">
                <a:solidFill>
                  <a:schemeClr val="accent2"/>
                </a:solidFill>
              </a:rPr>
              <a:t>Як зібрати складний об'єкт?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8321040" y="34747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Запах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Конструктор на багато параметрів, null-аргументи, некоректні об'єкти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8321040" y="47091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Рішення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Іменовані кроки + валідація в build()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Як обрати патерн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pic>
        <p:nvPicPr>
          <p:cNvPr id="5" name="Image 0" descr="GiThin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00200"/>
            <a:ext cx="548640" cy="5486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508760" y="14173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Багато параметрів, необов'язкові частини, правила коректності?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7589520" y="14173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так →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8503920" y="1572768"/>
            <a:ext cx="3108960" cy="60350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503920" y="157276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Builder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3291840" y="2331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ні ↓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532888"/>
            <a:ext cx="69494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pic>
        <p:nvPicPr>
          <p:cNvPr id="12" name="Image 1" descr="GiThin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15768"/>
            <a:ext cx="548640" cy="5486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2532888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Кілька об'єктів, які мають пасувати одне одному?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7589520" y="2532888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так →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8503920" y="2688336"/>
            <a:ext cx="3108960" cy="60350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8503920" y="268833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Abstract Factory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291840" y="3447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ні ↓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3648456"/>
            <a:ext cx="69494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pic>
        <p:nvPicPr>
          <p:cNvPr id="19" name="Image 2" descr="GiThin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31336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508760" y="3648456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Спільний алгоритм, а підкласи відрізняються продуктом?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7589520" y="3648456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так →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8503920" y="3803904"/>
            <a:ext cx="3108960" cy="60350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8503920" y="380390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Factory Method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3291840" y="45628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ні ↓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4764024"/>
            <a:ext cx="69494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pic>
        <p:nvPicPr>
          <p:cNvPr id="26" name="Image 3" descr="GiLightBul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946904"/>
            <a:ext cx="548640" cy="54864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508760" y="4764024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Нічого з переліченого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7589520" y="4764024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→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8503920" y="4919472"/>
            <a:ext cx="3108960" cy="60350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8503920" y="491947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Просто new — не ускладнюйте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Практика: рефакторинг своїми руками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200" dirty="0"/>
          </a:p>
        </p:txBody>
      </p:sp>
      <p:sp>
        <p:nvSpPr>
          <p:cNvPr id="5" name="code panel"/>
          <p:cNvSpPr/>
          <p:nvPr/>
        </p:nvSpPr>
        <p:spPr>
          <a:xfrm>
            <a:off x="548640" y="1591056"/>
            <a:ext cx="5852160" cy="2354580"/>
          </a:xfrm>
          <a:prstGeom prst="roundRect">
            <a:avLst>
              <a:gd name="adj" fmla="val 3107"/>
            </a:avLst>
          </a:prstGeom>
          <a:solidFill>
            <a:schemeClr val="bg2"/>
          </a:solidFill>
          <a:ln/>
        </p:spPr>
      </p:sp>
      <p:sp>
        <p:nvSpPr>
          <p:cNvPr id="6" name="code"/>
          <p:cNvSpPr txBox="1"/>
          <p:nvPr/>
        </p:nvSpPr>
        <p:spPr>
          <a:xfrm>
            <a:off x="731520" y="1773936"/>
            <a:ext cx="548640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код із «запахом»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bad-practice-principles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рефакторинг за README.md у папці патерну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порівняти з еталоном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bad-practice-principles \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best-practice-principles \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-- src/main/java/gof/creational/builder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766560" y="1371600"/>
            <a:ext cx="484632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8" name="GiFactory circle"/>
          <p:cNvSpPr/>
          <p:nvPr/>
        </p:nvSpPr>
        <p:spPr>
          <a:xfrm>
            <a:off x="6995160" y="164592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Image 0" descr="GiFacto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1801368"/>
            <a:ext cx="466344" cy="4663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955280" y="150876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Factory Method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Додайте DesertLevel — DungeonLevel має лишитися без змін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766560" y="2880360"/>
            <a:ext cx="484632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2" name="GiCastle circle"/>
          <p:cNvSpPr/>
          <p:nvPr/>
        </p:nvSpPr>
        <p:spPr>
          <a:xfrm>
            <a:off x="6995160" y="31546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GiCas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08" y="3310128"/>
            <a:ext cx="466344" cy="4663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955280" y="301752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Abstract Factory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Додайте тему Swamp. А що зміниться, якщо додати Trap?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6766560" y="4389120"/>
            <a:ext cx="484632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6" name="GiAnvil circle"/>
          <p:cNvSpPr/>
          <p:nvPr/>
        </p:nvSpPr>
        <p:spPr>
          <a:xfrm>
            <a:off x="6995160" y="466344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2" descr="GiAnvi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08" y="4818888"/>
            <a:ext cx="466344" cy="4663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955280" y="452628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Builder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Правило: ROGUE не може битися кулаками («Fists»)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548640" y="4800600"/>
            <a:ext cx="585216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777240" y="48006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Демо: 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FactoryMethodDemo, AbstractFactoryDemo, BuilderDemo</a:t>
            </a:r>
            <a:r>
              <a:rPr lang="en-US" sz="1500" dirty="0">
                <a:solidFill>
                  <a:schemeClr val="tx1"/>
                </a:solidFill>
              </a:rPr>
              <a:t> — до рефакторингу [FAIL], після — [OK]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Запитання для самоперевірки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1417320"/>
            <a:ext cx="822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417320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Чому default -&gt; new Goblin() — небезпечний «запасний» варіант?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172200" y="1417320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0" y="1417320"/>
            <a:ext cx="822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7269480" y="1417320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Чим Factory Method відрізняється від Abstract Factory за механізмом?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2953512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7240" y="2953512"/>
            <a:ext cx="822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2953512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Що доведеться змінити, якщо в підземеллях з'явиться пастка (Trap)?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172200" y="2953512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0" y="2953512"/>
            <a:ext cx="822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7269480" y="2953512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Чому валідація героя — у build(), а не в сетерах будівельника?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4489704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7240" y="4489704"/>
            <a:ext cx="822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1645920" y="4489704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Навіщо робити конструктор Hero приватним?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172200" y="4489704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00800" y="4489704"/>
            <a:ext cx="822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200" dirty="0"/>
          </a:p>
        </p:txBody>
      </p:sp>
      <p:sp>
        <p:nvSpPr>
          <p:cNvPr id="21" name="Text 18"/>
          <p:cNvSpPr txBox="1"/>
          <p:nvPr/>
        </p:nvSpPr>
        <p:spPr>
          <a:xfrm>
            <a:off x="7269480" y="4489704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Чи потрібен Builder класу з двома полями? Чому?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tx1"/>
                </a:solidFill>
              </a:rPr>
              <a:t>Дякую за увагу!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3949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Код: architecture-kpz · src/main/java/gof/creational</a:t>
            </a:r>
            <a:endParaRPr lang="en-US" sz="1400" dirty="0"/>
          </a:p>
        </p:txBody>
      </p:sp>
      <p:sp>
        <p:nvSpPr>
          <p:cNvPr id="5" name="GiFactory circle"/>
          <p:cNvSpPr/>
          <p:nvPr/>
        </p:nvSpPr>
        <p:spPr>
          <a:xfrm>
            <a:off x="8138160" y="914400"/>
            <a:ext cx="1600200" cy="1600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GiFacto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234440"/>
            <a:ext cx="960120" cy="960120"/>
          </a:xfrm>
          <a:prstGeom prst="rect">
            <a:avLst/>
          </a:prstGeom>
        </p:spPr>
      </p:pic>
      <p:sp>
        <p:nvSpPr>
          <p:cNvPr id="7" name="GiCastle circle"/>
          <p:cNvSpPr/>
          <p:nvPr/>
        </p:nvSpPr>
        <p:spPr>
          <a:xfrm>
            <a:off x="9692640" y="2423160"/>
            <a:ext cx="1600200" cy="1600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1" descr="GiCas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0" y="2743200"/>
            <a:ext cx="960120" cy="960120"/>
          </a:xfrm>
          <a:prstGeom prst="rect">
            <a:avLst/>
          </a:prstGeom>
        </p:spPr>
      </p:pic>
      <p:sp>
        <p:nvSpPr>
          <p:cNvPr id="9" name="GiAnvil circle"/>
          <p:cNvSpPr/>
          <p:nvPr/>
        </p:nvSpPr>
        <p:spPr>
          <a:xfrm>
            <a:off x="8138160" y="3931920"/>
            <a:ext cx="1600200" cy="1600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2" descr="GiAnvi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425196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ungeon Patterns">
  <a:themeElements>
    <a:clrScheme name="Dungeon Patterns">
      <a:dk1>
        <a:srgbClr val="1E1B2E"/>
      </a:dk1>
      <a:lt1>
        <a:srgbClr val="FFFFFF"/>
      </a:lt1>
      <a:dk2>
        <a:srgbClr val="4B3F72"/>
      </a:dk2>
      <a:lt2>
        <a:srgbClr val="F3F0FA"/>
      </a:lt2>
      <a:accent1>
        <a:srgbClr val="5B3FA0"/>
      </a:accent1>
      <a:accent2>
        <a:srgbClr val="C2700F"/>
      </a:accent2>
      <a:accent3>
        <a:srgbClr val="1F8A7E"/>
      </a:accent3>
      <a:accent4>
        <a:srgbClr val="C8384C"/>
      </a:accent4>
      <a:accent5>
        <a:srgbClr val="3F7D32"/>
      </a:accent5>
      <a:accent6>
        <a:srgbClr val="2F6FB3"/>
      </a:accent6>
      <a:hlink>
        <a:srgbClr val="5B3FA0"/>
      </a:hlink>
      <a:folHlink>
        <a:srgbClr val="7B5FB0"/>
      </a:folHlink>
    </a:clrScheme>
    <a:fontScheme name="Dungeon Pattern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8055</Words>
  <Application>Microsoft Office PowerPoint</Application>
  <PresentationFormat>Widescreen</PresentationFormat>
  <Paragraphs>751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Cambria</vt:lpstr>
      <vt:lpstr>Courier New</vt:lpstr>
      <vt:lpstr>Dungeon Patterns</vt:lpstr>
      <vt:lpstr>Породжувальні патерни GoF. Частина 2</vt:lpstr>
      <vt:lpstr>План лекції</vt:lpstr>
      <vt:lpstr>Чому оператор new — це проблема</vt:lpstr>
      <vt:lpstr>Породжувальні патерни в каталозі GoF</vt:lpstr>
      <vt:lpstr>Наскрізний приклад: гра Dungeon Raid</vt:lpstr>
      <vt:lpstr>Factory Method</vt:lpstr>
      <vt:lpstr>Сценарій: рівні в різних біомах</vt:lpstr>
      <vt:lpstr>«Запах»: той самий switch у двох методах</vt:lpstr>
      <vt:lpstr>Наслідок у демо: гоблін у болоті</vt:lpstr>
      <vt:lpstr>Ідея патерну Factory Method</vt:lpstr>
      <vt:lpstr>Рефакторинг: базовий клас володіє алгоритмом</vt:lpstr>
      <vt:lpstr>Новий біом — один новий підклас</vt:lpstr>
      <vt:lpstr>Factory Method: переваги та ціна</vt:lpstr>
      <vt:lpstr>Abstract Factory</vt:lpstr>
      <vt:lpstr>Сценарій: тематичні підземелля</vt:lpstr>
      <vt:lpstr>«Запах»: генератор, скопійований для нової теми</vt:lpstr>
      <vt:lpstr>Наслідок у демо: Frost Sword у лаві</vt:lpstr>
      <vt:lpstr>Ідея Abstract Factory: сімейства × типи продуктів</vt:lpstr>
      <vt:lpstr>Рефакторинг: інтерфейс для всього сімейства</vt:lpstr>
      <vt:lpstr>Один генератор для будь-якої теми</vt:lpstr>
      <vt:lpstr>Abstract Factory: переваги та ціна</vt:lpstr>
      <vt:lpstr>Factory Method чи Abstract Factory?</vt:lpstr>
      <vt:lpstr>Builder</vt:lpstr>
      <vt:lpstr>Сценарій: редактор персонажа</vt:lpstr>
      <vt:lpstr>«Запах»: конструктор із 8 позиційними параметрами</vt:lpstr>
      <vt:lpstr>Наслідки в демо</vt:lpstr>
      <vt:lpstr>Рефакторинг: іменовані кроки замість позицій</vt:lpstr>
      <vt:lpstr>Як влаштований Hero.Builder</vt:lpstr>
      <vt:lpstr>Валідація в build(): некоректного героя не існує</vt:lpstr>
      <vt:lpstr>Builder у GoF і fluent builder</vt:lpstr>
      <vt:lpstr>Builder: переваги, ціна, приклади</vt:lpstr>
      <vt:lpstr>Підсумки</vt:lpstr>
      <vt:lpstr>Три патерни — три питання</vt:lpstr>
      <vt:lpstr>Як обрати патерн</vt:lpstr>
      <vt:lpstr>Практика: рефакторинг своїми руками</vt:lpstr>
      <vt:lpstr>Запитання для самоперевірки</vt:lpstr>
      <vt:lpstr>Дякую за увагу!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Породжувальні патерни GoF: Factory Method, Abstract Factory, Builder</dc:title>
  <dc:subject>Конструювання програмного забезпечення</dc:subject>
  <dc:creator>КПЗ</dc:creator>
  <cp:lastModifiedBy>Alex Atvinovskyi</cp:lastModifiedBy>
  <cp:revision>3</cp:revision>
  <dcterms:created xsi:type="dcterms:W3CDTF">2026-10-27T19:29:20Z</dcterms:created>
  <dcterms:modified xsi:type="dcterms:W3CDTF">2026-10-27T19:52:38Z</dcterms:modified>
</cp:coreProperties>
</file>